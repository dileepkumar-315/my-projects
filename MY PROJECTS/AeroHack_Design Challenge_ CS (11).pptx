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6"/>
    <p:sldMasterId id="2147483658" r:id="rId7"/>
    <p:sldMasterId id="2147483648" r:id="rId8"/>
    <p:sldMasterId id="2147483677" r:id="rId9"/>
    <p:sldMasterId id="2147483712" r:id="rId10"/>
  </p:sldMasterIdLst>
  <p:notesMasterIdLst>
    <p:notesMasterId r:id="rId23"/>
  </p:notesMasterIdLst>
  <p:handoutMasterIdLst>
    <p:handoutMasterId r:id="rId24"/>
  </p:handoutMasterIdLst>
  <p:sldIdLst>
    <p:sldId id="299" r:id="rId11"/>
    <p:sldId id="347" r:id="rId12"/>
    <p:sldId id="352" r:id="rId13"/>
    <p:sldId id="344" r:id="rId14"/>
    <p:sldId id="348" r:id="rId15"/>
    <p:sldId id="345" r:id="rId16"/>
    <p:sldId id="346" r:id="rId17"/>
    <p:sldId id="349" r:id="rId18"/>
    <p:sldId id="353" r:id="rId19"/>
    <p:sldId id="354" r:id="rId20"/>
    <p:sldId id="350" r:id="rId21"/>
    <p:sldId id="35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C067E147-92A3-4025-A692-50947FB67A62}">
          <p14:sldIdLst/>
        </p14:section>
        <p14:section name="COL Covers" id="{C60E72D5-0126-464F-AD1D-90D8AE201072}">
          <p14:sldIdLst>
            <p14:sldId id="299"/>
            <p14:sldId id="347"/>
          </p14:sldIdLst>
        </p14:section>
        <p14:section name="COL: Content" id="{EA5EB87C-BF09-4E71-8317-503F941D8D52}">
          <p14:sldIdLst>
            <p14:sldId id="352"/>
            <p14:sldId id="344"/>
            <p14:sldId id="348"/>
            <p14:sldId id="345"/>
            <p14:sldId id="346"/>
            <p14:sldId id="349"/>
            <p14:sldId id="353"/>
            <p14:sldId id="354"/>
            <p14:sldId id="350"/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E605F5-24A2-6B8F-229D-2A3E07457F47}" name="Avitabile, Amy      RTX" initials="AAR" userId="S::E21161113@adxuser.com::50035740-67fe-4f30-8d66-cf523957c7d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y Avitabile" initials="AA" lastIdx="1" clrIdx="0">
    <p:extLst>
      <p:ext uri="{19B8F6BF-5375-455C-9EA6-DF929625EA0E}">
        <p15:presenceInfo xmlns:p15="http://schemas.microsoft.com/office/powerpoint/2012/main" userId="S-1-5-21-1214440339-861567501-682003330-13659481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B661"/>
    <a:srgbClr val="9ABEAA"/>
    <a:srgbClr val="E6E6E6"/>
    <a:srgbClr val="908CC2"/>
    <a:srgbClr val="D9D9D6"/>
    <a:srgbClr val="B1B3B3"/>
    <a:srgbClr val="DFE0E0"/>
    <a:srgbClr val="F2F2F2"/>
    <a:srgbClr val="BFC1C2"/>
    <a:srgbClr val="6366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F8BF3E-7C5E-112B-F588-7ACB92525755}" v="2" dt="2025-03-12T17:24:13.309"/>
    <p1510:client id="{E45F279C-BACB-4675-85E2-6726E0D80F91}" v="268" dt="2025-03-12T13:24:40.368"/>
    <p1510:client id="{E9D1057D-7CD3-4F03-868D-27D061688D90}" v="188" dt="2025-03-12T17:21:09.699"/>
  </p1510:revLst>
</p1510:revInfo>
</file>

<file path=ppt/tableStyles.xml><?xml version="1.0" encoding="utf-8"?>
<a:tblStyleLst xmlns:a="http://schemas.openxmlformats.org/drawingml/2006/main" def="{3B4B98B0-60AC-42C2-AFA5-B58CD77FA1E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8" y="64"/>
      </p:cViewPr>
      <p:guideLst>
        <p:guide pos="3840"/>
        <p:guide orient="horz" pos="21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4" Type="http://schemas.openxmlformats.org/officeDocument/2006/relationships/handoutMaster" Target="handoutMasters/handout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5.xml"/><Relationship Id="rId19" Type="http://schemas.openxmlformats.org/officeDocument/2006/relationships/slide" Target="slides/slide9.xml"/><Relationship Id="rId31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3"/>
          </p:nvPr>
        </p:nvSpPr>
        <p:spPr>
          <a:xfrm>
            <a:off x="3886200" y="0"/>
            <a:ext cx="2514600" cy="45878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138C58B0-FFE9-437E-B2CB-216DAFA8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66732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2" pos="288" userDrawn="1">
          <p15:clr>
            <a:srgbClr val="F26B43"/>
          </p15:clr>
        </p15:guide>
        <p15:guide id="3" pos="403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2624" y="692622"/>
            <a:ext cx="5517676" cy="310369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012556"/>
            <a:ext cx="5524500" cy="409421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5"/>
          </p:nvPr>
        </p:nvSpPr>
        <p:spPr>
          <a:xfrm>
            <a:off x="3886200" y="9183"/>
            <a:ext cx="2324100" cy="45878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56AF3A09-0EB5-429E-B7D0-FB28A772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1913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15888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87338" indent="-117475" algn="l" defTabSz="914400" rtl="0" eaLnBrk="1" latinLnBrk="0" hangingPunct="1">
      <a:spcBef>
        <a:spcPts val="200"/>
      </a:spcBef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57200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27063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0425" indent="-171450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432" userDrawn="1">
          <p15:clr>
            <a:srgbClr val="F26B43"/>
          </p15:clr>
        </p15:guide>
        <p15:guide id="2" pos="391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68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image" Target="../media/image6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E5F66BD-B24D-66F9-E108-0EEBA425F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1836211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E8DFD5FC-C8A3-08AE-1F4A-7CC1E2BAE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612EC3B-575F-B503-9FBF-4DDBF99F4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defRPr lang="en-US" sz="700"/>
            </a:lvl1pPr>
          </a:lstStyle>
          <a:p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E1A92E33-8F3F-CE0C-D8EF-9FB7A62D05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978" y="2288554"/>
            <a:ext cx="10152447" cy="172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31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C72FA151-06B1-BA7C-A477-FB3B40A9F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"/>
          <p:cNvSpPr>
            <a:spLocks noGrp="1"/>
          </p:cNvSpPr>
          <p:nvPr>
            <p:ph type="body" sz="quarter" idx="14" hasCustomPrompt="1"/>
          </p:nvPr>
        </p:nvSpPr>
        <p:spPr>
          <a:xfrm>
            <a:off x="6879264" y="4860395"/>
            <a:ext cx="1642897" cy="193899"/>
          </a:xfrm>
          <a:noFill/>
        </p:spPr>
        <p:txBody>
          <a:bodyPr wrap="square">
            <a:spAutoFit/>
          </a:bodyPr>
          <a:lstStyle>
            <a:lvl1pPr>
              <a:defRPr sz="1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Presenters"/>
          <p:cNvSpPr>
            <a:spLocks noGrp="1"/>
          </p:cNvSpPr>
          <p:nvPr>
            <p:ph type="body" sz="quarter" idx="13" hasCustomPrompt="1"/>
          </p:nvPr>
        </p:nvSpPr>
        <p:spPr>
          <a:xfrm>
            <a:off x="6880362" y="3840163"/>
            <a:ext cx="4634981" cy="249299"/>
          </a:xfr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Title, Function. 18 pt. black.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879264" y="2160241"/>
            <a:ext cx="4626935" cy="914096"/>
          </a:xfrm>
          <a:noFill/>
        </p:spPr>
        <p:txBody>
          <a:bodyPr wrap="square" anchor="t" anchorCtr="0">
            <a:spAutoFit/>
          </a:bodyPr>
          <a:lstStyle>
            <a:lvl1pPr defTabSz="914400">
              <a:spcBef>
                <a:spcPct val="0"/>
              </a:spcBef>
              <a:defRPr sz="3300">
                <a:solidFill>
                  <a:schemeClr val="tx1"/>
                </a:solidFill>
              </a:defRPr>
            </a:lvl1pPr>
          </a:lstStyle>
          <a:p>
            <a:pPr lvl="0" defTabSz="914400">
              <a:spcBef>
                <a:spcPct val="0"/>
              </a:spcBef>
            </a:pPr>
            <a:r>
              <a:rPr lang="en-US"/>
              <a:t>Title 33 pt. black. Bold. Sentence case.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EFD9E-7750-6D4A-1D98-5496B6132B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defRPr lang="en-US" sz="700"/>
            </a:lvl1pPr>
          </a:lstStyle>
          <a:p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8638592A-F13E-81FF-79BE-5F7467D5FB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799" y="2105191"/>
            <a:ext cx="5562601" cy="94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45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F4B96747-42DE-57F0-0FB9-E7A2A0150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C62ECF-76DE-3845-37A2-A6FD5498C7B5}"/>
              </a:ext>
            </a:extLst>
          </p:cNvPr>
          <p:cNvGrpSpPr/>
          <p:nvPr userDrawn="1"/>
        </p:nvGrpSpPr>
        <p:grpSpPr>
          <a:xfrm>
            <a:off x="0" y="0"/>
            <a:ext cx="12192000" cy="4000501"/>
            <a:chOff x="0" y="0"/>
            <a:chExt cx="12192000" cy="4000501"/>
          </a:xfrm>
        </p:grpSpPr>
        <p:pic>
          <p:nvPicPr>
            <p:cNvPr id="15" name="Picture 14" descr="A picture containing sky, outdoor&#10;&#10;Description automatically generated">
              <a:extLst>
                <a:ext uri="{FF2B5EF4-FFF2-40B4-BE49-F238E27FC236}">
                  <a16:creationId xmlns:a16="http://schemas.microsoft.com/office/drawing/2014/main" id="{5F38B2FE-D5AD-4032-D2BB-9E454F5775A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082800" y="663"/>
              <a:ext cx="4026401" cy="399983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DFDCAA9-0215-4287-3764-0FCA357150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25" r="25"/>
            <a:stretch/>
          </p:blipFill>
          <p:spPr>
            <a:xfrm>
              <a:off x="0" y="0"/>
              <a:ext cx="4026400" cy="3999837"/>
            </a:xfrm>
            <a:prstGeom prst="rect">
              <a:avLst/>
            </a:prstGeom>
          </p:spPr>
        </p:pic>
        <p:pic>
          <p:nvPicPr>
            <p:cNvPr id="17" name="Picture 2" descr="Thermal-management-aircraft">
              <a:extLst>
                <a:ext uri="{FF2B5EF4-FFF2-40B4-BE49-F238E27FC236}">
                  <a16:creationId xmlns:a16="http://schemas.microsoft.com/office/drawing/2014/main" id="{8C503F3B-AA68-D98D-7D68-FD7733C9774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36" b="5934"/>
            <a:stretch/>
          </p:blipFill>
          <p:spPr bwMode="auto">
            <a:xfrm>
              <a:off x="8165601" y="663"/>
              <a:ext cx="4026399" cy="3999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Date">
            <a:extLst>
              <a:ext uri="{FF2B5EF4-FFF2-40B4-BE49-F238E27FC236}">
                <a16:creationId xmlns:a16="http://schemas.microsoft.com/office/drawing/2014/main" id="{A7520BD9-F27C-EB53-362B-E29762A25B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25267" y="5144230"/>
            <a:ext cx="1866900" cy="166199"/>
          </a:xfrm>
          <a:noFill/>
        </p:spPr>
        <p:txBody>
          <a:bodyPr>
            <a:spAutoFit/>
          </a:bodyPr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Presenters">
            <a:extLst>
              <a:ext uri="{FF2B5EF4-FFF2-40B4-BE49-F238E27FC236}">
                <a16:creationId xmlns:a16="http://schemas.microsoft.com/office/drawing/2014/main" id="{B53E8303-2948-CE7F-FFD7-5F13BB7383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5267" y="4832708"/>
            <a:ext cx="6486746" cy="221599"/>
          </a:xfr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Title, Function. 16 pt. black.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3B8EDCE6-047D-0310-4495-B16000AE8B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267" y="4451623"/>
            <a:ext cx="6486746" cy="346249"/>
          </a:xfrm>
          <a:noFill/>
        </p:spPr>
        <p:txBody>
          <a:bodyPr wrap="square" anchor="b" anchorCtr="0">
            <a:spAutoFit/>
          </a:bodyPr>
          <a:lstStyle>
            <a:lvl1pPr defTabSz="914400">
              <a:spcBef>
                <a:spcPct val="0"/>
              </a:spcBef>
              <a:defRPr sz="2500">
                <a:solidFill>
                  <a:schemeClr val="tx1"/>
                </a:solidFill>
              </a:defRPr>
            </a:lvl1pPr>
          </a:lstStyle>
          <a:p>
            <a:pPr lvl="0" defTabSz="914400">
              <a:spcBef>
                <a:spcPct val="0"/>
              </a:spcBef>
            </a:pPr>
            <a:r>
              <a:rPr lang="en-US"/>
              <a:t>Title 25 pt. black. Bold. Sentence case. 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8B74DD3-7917-FD60-1CEB-BDFB06DC8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defRPr lang="en-US" sz="700"/>
            </a:lvl1pPr>
          </a:lstStyle>
          <a:p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106A2509-4735-8D6E-0367-1124FC90CD6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85799" y="4492398"/>
            <a:ext cx="3695701" cy="62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82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att &amp; Whitney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11182626-538B-109F-3E50-F4953F005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"/>
          <p:cNvSpPr>
            <a:spLocks noGrp="1"/>
          </p:cNvSpPr>
          <p:nvPr>
            <p:ph type="body" sz="quarter" idx="14" hasCustomPrompt="1"/>
          </p:nvPr>
        </p:nvSpPr>
        <p:spPr>
          <a:xfrm>
            <a:off x="4925267" y="5144230"/>
            <a:ext cx="1866900" cy="166199"/>
          </a:xfrm>
          <a:noFill/>
        </p:spPr>
        <p:txBody>
          <a:bodyPr>
            <a:spAutoFit/>
          </a:bodyPr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Presenters"/>
          <p:cNvSpPr>
            <a:spLocks noGrp="1"/>
          </p:cNvSpPr>
          <p:nvPr>
            <p:ph type="body" sz="quarter" idx="13" hasCustomPrompt="1"/>
          </p:nvPr>
        </p:nvSpPr>
        <p:spPr>
          <a:xfrm>
            <a:off x="4925267" y="4832708"/>
            <a:ext cx="6486746" cy="221599"/>
          </a:xfr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Title, Function. 16 pt. black.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925267" y="4451623"/>
            <a:ext cx="6486746" cy="346249"/>
          </a:xfrm>
          <a:noFill/>
        </p:spPr>
        <p:txBody>
          <a:bodyPr wrap="square" anchor="b" anchorCtr="0">
            <a:spAutoFit/>
          </a:bodyPr>
          <a:lstStyle>
            <a:lvl1pPr defTabSz="914400">
              <a:spcBef>
                <a:spcPct val="0"/>
              </a:spcBef>
              <a:defRPr sz="2500">
                <a:solidFill>
                  <a:schemeClr val="tx1"/>
                </a:solidFill>
              </a:defRPr>
            </a:lvl1pPr>
          </a:lstStyle>
          <a:p>
            <a:pPr lvl="0" defTabSz="914400">
              <a:spcBef>
                <a:spcPct val="0"/>
              </a:spcBef>
            </a:pPr>
            <a:r>
              <a:rPr lang="en-US"/>
              <a:t>Title 25 pt. black. Bold. Sentence case.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B6EDA-04E7-A647-9351-25B11C05C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defRPr lang="en-US" sz="700"/>
            </a:lvl1pPr>
          </a:lstStyle>
          <a:p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CD780A4-E59C-EC7C-0923-2DF8779BB740}"/>
              </a:ext>
            </a:extLst>
          </p:cNvPr>
          <p:cNvGrpSpPr/>
          <p:nvPr userDrawn="1"/>
        </p:nvGrpSpPr>
        <p:grpSpPr>
          <a:xfrm>
            <a:off x="0" y="0"/>
            <a:ext cx="12192000" cy="4000500"/>
            <a:chOff x="0" y="0"/>
            <a:chExt cx="12192000" cy="40005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51D2E6-8B50-4B28-48B1-E63E5AF8DC9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2793" t="2717" r="22165" b="1207"/>
            <a:stretch/>
          </p:blipFill>
          <p:spPr>
            <a:xfrm>
              <a:off x="4082800" y="1"/>
              <a:ext cx="4026401" cy="399983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BEDE36E-8FC0-95B4-7C79-F0E71F3D4A2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25" r="25"/>
            <a:stretch/>
          </p:blipFill>
          <p:spPr>
            <a:xfrm>
              <a:off x="0" y="0"/>
              <a:ext cx="4026400" cy="3999837"/>
            </a:xfrm>
            <a:prstGeom prst="rect">
              <a:avLst/>
            </a:prstGeom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B2210A33-0B32-55FA-74EC-9C35474529E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/>
            <a:srcRect l="16439" r="16439"/>
            <a:stretch/>
          </p:blipFill>
          <p:spPr bwMode="auto">
            <a:xfrm>
              <a:off x="8165601" y="663"/>
              <a:ext cx="4026399" cy="3999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290BF5CD-B8DF-7187-83C6-192C964DD22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85799" y="4492398"/>
            <a:ext cx="3695701" cy="62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9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ance: RTX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83E520A4-FAAE-1C23-A63D-FAE04B206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C14E4D-FFCC-16F0-1F0B-8A1621EFC611}"/>
              </a:ext>
            </a:extLst>
          </p:cNvPr>
          <p:cNvSpPr txBox="1"/>
          <p:nvPr userDrawn="1"/>
        </p:nvSpPr>
        <p:spPr>
          <a:xfrm>
            <a:off x="662940" y="468598"/>
            <a:ext cx="10896600" cy="4862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80000"/>
              </a:lnSpc>
              <a:spcBef>
                <a:spcPct val="0"/>
              </a:spcBef>
              <a:buNone/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RTX color palette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41BBA-C64A-D926-1311-F092A2C6AC0E}"/>
              </a:ext>
            </a:extLst>
          </p:cNvPr>
          <p:cNvSpPr/>
          <p:nvPr userDrawn="1"/>
        </p:nvSpPr>
        <p:spPr>
          <a:xfrm>
            <a:off x="694270" y="1714500"/>
            <a:ext cx="340516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/>
            <a:r>
              <a:rPr lang="en-US" sz="1200" b="1"/>
              <a:t>RTX primary palette</a:t>
            </a:r>
          </a:p>
          <a:p>
            <a:pPr marL="0" lvl="1"/>
            <a:r>
              <a:rPr lang="en-US" sz="1200"/>
              <a:t>Our primary palette consists of black and white.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28EA49-0A02-0ED7-45A0-47A86C772A32}"/>
              </a:ext>
            </a:extLst>
          </p:cNvPr>
          <p:cNvSpPr/>
          <p:nvPr userDrawn="1"/>
        </p:nvSpPr>
        <p:spPr>
          <a:xfrm>
            <a:off x="685800" y="4252665"/>
            <a:ext cx="3754700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/>
            <a:r>
              <a:rPr lang="en-US" sz="1200" b="1" baseline="0"/>
              <a:t>PPT tertiary palette</a:t>
            </a:r>
            <a:endParaRPr lang="en-US" sz="1200" b="1"/>
          </a:p>
          <a:p>
            <a:pPr marL="0" lvl="1"/>
            <a:r>
              <a:rPr lang="en-US" sz="1200"/>
              <a:t>Accent colors </a:t>
            </a:r>
            <a:r>
              <a:rPr lang="en-US" sz="1200" b="1"/>
              <a:t>only</a:t>
            </a:r>
            <a:r>
              <a:rPr lang="en-US" sz="1200" baseline="0"/>
              <a:t> </a:t>
            </a:r>
            <a:r>
              <a:rPr lang="en-US" sz="1200"/>
              <a:t>for use in charts and graphs </a:t>
            </a:r>
            <a:br>
              <a:rPr lang="en-US" sz="1200"/>
            </a:br>
            <a:r>
              <a:rPr lang="en-US" sz="1200"/>
              <a:t>with many data points.</a:t>
            </a:r>
          </a:p>
          <a:p>
            <a:pPr marL="0" lvl="1"/>
            <a:endParaRPr lang="en-US" sz="1200"/>
          </a:p>
          <a:p>
            <a:pPr marL="0" lvl="1"/>
            <a:r>
              <a:rPr lang="en-US" sz="1200"/>
              <a:t>These additional</a:t>
            </a:r>
            <a:r>
              <a:rPr lang="en-US" sz="1200" baseline="0"/>
              <a:t> colors should only be used in PowerPoint presentations when needed to clearly communicate a message to your audience. </a:t>
            </a:r>
            <a:endParaRPr 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D5D63D-01CA-B54F-8233-A9EB59996BBD}"/>
              </a:ext>
            </a:extLst>
          </p:cNvPr>
          <p:cNvSpPr txBox="1"/>
          <p:nvPr userDrawn="1"/>
        </p:nvSpPr>
        <p:spPr>
          <a:xfrm>
            <a:off x="4376186" y="1714500"/>
            <a:ext cx="4428378" cy="114114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900" b="1"/>
              <a:t>White</a:t>
            </a:r>
          </a:p>
          <a:p>
            <a:r>
              <a:rPr lang="en-US" sz="900"/>
              <a:t>RGB: 255, 255, 255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A73916-2A5F-D430-9CFA-FDCB9C43D8E5}"/>
              </a:ext>
            </a:extLst>
          </p:cNvPr>
          <p:cNvSpPr txBox="1"/>
          <p:nvPr userDrawn="1"/>
        </p:nvSpPr>
        <p:spPr>
          <a:xfrm>
            <a:off x="7818008" y="4638088"/>
            <a:ext cx="1600200" cy="230832"/>
          </a:xfrm>
          <a:prstGeom prst="rect">
            <a:avLst/>
          </a:prstGeom>
          <a:solidFill>
            <a:srgbClr val="EFB661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239, 182, 97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5B463-8F9A-BFCE-DCD7-43E205C0A4EC}"/>
              </a:ext>
            </a:extLst>
          </p:cNvPr>
          <p:cNvSpPr txBox="1"/>
          <p:nvPr userDrawn="1"/>
        </p:nvSpPr>
        <p:spPr>
          <a:xfrm>
            <a:off x="4376778" y="4638088"/>
            <a:ext cx="1600200" cy="230832"/>
          </a:xfrm>
          <a:prstGeom prst="rect">
            <a:avLst/>
          </a:prstGeom>
          <a:solidFill>
            <a:srgbClr val="908CC2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144, 140, 194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7A2A9-B6B8-434C-9DCC-B03F85CE6C3B}"/>
              </a:ext>
            </a:extLst>
          </p:cNvPr>
          <p:cNvSpPr txBox="1"/>
          <p:nvPr userDrawn="1"/>
        </p:nvSpPr>
        <p:spPr>
          <a:xfrm>
            <a:off x="6097393" y="4638088"/>
            <a:ext cx="1600200" cy="230832"/>
          </a:xfrm>
          <a:prstGeom prst="rect">
            <a:avLst/>
          </a:prstGeom>
          <a:solidFill>
            <a:srgbClr val="9ABEAA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154, 190, 170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6AA454-7A5B-66BC-D4A0-3D71A3A709F0}"/>
              </a:ext>
            </a:extLst>
          </p:cNvPr>
          <p:cNvSpPr/>
          <p:nvPr userDrawn="1"/>
        </p:nvSpPr>
        <p:spPr>
          <a:xfrm>
            <a:off x="685800" y="2975129"/>
            <a:ext cx="2999972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/>
            <a:r>
              <a:rPr lang="en-US" sz="1200" b="1"/>
              <a:t>RTX secondary palette</a:t>
            </a:r>
          </a:p>
          <a:p>
            <a:pPr marL="0" lvl="1"/>
            <a:r>
              <a:rPr lang="en-US" sz="1200"/>
              <a:t>Our secondary color palette consists of the three grays and red specified. Be sure to use these formulas.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B09C7-834F-394E-A958-DF3E55FCE790}"/>
              </a:ext>
            </a:extLst>
          </p:cNvPr>
          <p:cNvSpPr txBox="1"/>
          <p:nvPr userDrawn="1"/>
        </p:nvSpPr>
        <p:spPr>
          <a:xfrm>
            <a:off x="694270" y="1107061"/>
            <a:ext cx="609713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800"/>
              <a:t>Predominant brand colors to be used for all presentations.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13F8C0-6D6A-5E83-58AF-5504B66B79EE}"/>
              </a:ext>
            </a:extLst>
          </p:cNvPr>
          <p:cNvCxnSpPr/>
          <p:nvPr userDrawn="1"/>
        </p:nvCxnSpPr>
        <p:spPr>
          <a:xfrm>
            <a:off x="694270" y="4023807"/>
            <a:ext cx="10813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6F29B8-5A4C-3DDE-1DDD-B84B5C085DA9}"/>
              </a:ext>
            </a:extLst>
          </p:cNvPr>
          <p:cNvSpPr txBox="1"/>
          <p:nvPr userDrawn="1"/>
        </p:nvSpPr>
        <p:spPr>
          <a:xfrm>
            <a:off x="7818008" y="2975129"/>
            <a:ext cx="1600200" cy="395283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Cool Gray 10</a:t>
            </a:r>
          </a:p>
          <a:p>
            <a:r>
              <a:rPr lang="en-US" sz="900">
                <a:solidFill>
                  <a:schemeClr val="bg1"/>
                </a:solidFill>
              </a:rPr>
              <a:t>RGB: 99, 102, 106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F555A6-97AF-8ED4-EE9E-33F5D49CF7E1}"/>
              </a:ext>
            </a:extLst>
          </p:cNvPr>
          <p:cNvSpPr txBox="1"/>
          <p:nvPr userDrawn="1"/>
        </p:nvSpPr>
        <p:spPr>
          <a:xfrm>
            <a:off x="6097393" y="2975129"/>
            <a:ext cx="1600200" cy="39528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tx1"/>
                </a:solidFill>
              </a:rPr>
              <a:t>Cool Gray 5</a:t>
            </a:r>
          </a:p>
          <a:p>
            <a:r>
              <a:rPr lang="en-US" sz="900">
                <a:solidFill>
                  <a:schemeClr val="tx1"/>
                </a:solidFill>
              </a:rPr>
              <a:t>RGB: 177, 179, 179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F986CA-9DEB-DC03-DBF1-6A24D2719E8E}"/>
              </a:ext>
            </a:extLst>
          </p:cNvPr>
          <p:cNvSpPr txBox="1"/>
          <p:nvPr userDrawn="1"/>
        </p:nvSpPr>
        <p:spPr>
          <a:xfrm>
            <a:off x="4376778" y="2975129"/>
            <a:ext cx="1600200" cy="39528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tx1"/>
                </a:solidFill>
              </a:rPr>
              <a:t>Cool Gray 1</a:t>
            </a:r>
          </a:p>
          <a:p>
            <a:r>
              <a:rPr lang="en-US" sz="900">
                <a:solidFill>
                  <a:schemeClr val="tx1"/>
                </a:solidFill>
              </a:rPr>
              <a:t>RGB: 217, 217, 214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4FAF87-9756-7369-920A-916A8ABEBE3A}"/>
              </a:ext>
            </a:extLst>
          </p:cNvPr>
          <p:cNvSpPr txBox="1"/>
          <p:nvPr userDrawn="1"/>
        </p:nvSpPr>
        <p:spPr>
          <a:xfrm>
            <a:off x="4376778" y="4252665"/>
            <a:ext cx="1600200" cy="2308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123, 167, 188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EA9186-E29F-6230-342E-0C99C8F431C1}"/>
              </a:ext>
            </a:extLst>
          </p:cNvPr>
          <p:cNvSpPr txBox="1"/>
          <p:nvPr userDrawn="1"/>
        </p:nvSpPr>
        <p:spPr>
          <a:xfrm>
            <a:off x="9538623" y="2975129"/>
            <a:ext cx="1600200" cy="395283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Red 186</a:t>
            </a:r>
          </a:p>
          <a:p>
            <a:r>
              <a:rPr lang="en-US" sz="900">
                <a:solidFill>
                  <a:schemeClr val="bg1"/>
                </a:solidFill>
              </a:rPr>
              <a:t>RGB: 206, 17, 38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8F9550-0C58-B5DB-AC53-18760A42A073}"/>
              </a:ext>
            </a:extLst>
          </p:cNvPr>
          <p:cNvSpPr txBox="1"/>
          <p:nvPr userDrawn="1"/>
        </p:nvSpPr>
        <p:spPr>
          <a:xfrm>
            <a:off x="6097393" y="4252665"/>
            <a:ext cx="1600200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183, 169, 154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94DDDD-08AF-823A-E89F-47FD078CA228}"/>
              </a:ext>
            </a:extLst>
          </p:cNvPr>
          <p:cNvSpPr txBox="1"/>
          <p:nvPr userDrawn="1"/>
        </p:nvSpPr>
        <p:spPr>
          <a:xfrm>
            <a:off x="8947053" y="1714500"/>
            <a:ext cx="2191770" cy="11411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Black</a:t>
            </a:r>
          </a:p>
          <a:p>
            <a:r>
              <a:rPr lang="en-US" sz="900">
                <a:solidFill>
                  <a:schemeClr val="bg1"/>
                </a:solidFill>
              </a:rPr>
              <a:t>RGB: 0, 0, 0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ACA73BA7-4C6B-64D2-F17C-049239956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42834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CEB5585-C834-0985-6E75-F76DB3DE9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85924E1-E671-15B7-C729-FB4877870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3650797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dy"/>
          <p:cNvSpPr>
            <a:spLocks noGrp="1"/>
          </p:cNvSpPr>
          <p:nvPr>
            <p:ph type="body" sz="quarter" idx="13" hasCustomPrompt="1"/>
          </p:nvPr>
        </p:nvSpPr>
        <p:spPr>
          <a:xfrm>
            <a:off x="685799" y="1476000"/>
            <a:ext cx="10829543" cy="4315200"/>
          </a:xfrm>
          <a:noFill/>
        </p:spPr>
        <p:txBody>
          <a:bodyPr/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9913" indent="-2809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2317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2675" indent="-2809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6038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28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Takeaway bar">
            <a:extLst>
              <a:ext uri="{FF2B5EF4-FFF2-40B4-BE49-F238E27FC236}">
                <a16:creationId xmlns:a16="http://schemas.microsoft.com/office/drawing/2014/main" id="{8F3A43FB-9FBA-E24C-1C15-E32F1866C8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Optional takeaway bar. Black. Bold. 16 pt. Centered. Sentence case.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FA8D734-2FCE-8F54-C61F-7DDD193F1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F66BF-F411-021B-DAFB-936A5D5BF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34243742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/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4381500" y="1572733"/>
            <a:ext cx="7124700" cy="3903034"/>
          </a:xfrm>
          <a:solidFill>
            <a:schemeClr val="accent2">
              <a:lumMod val="20000"/>
              <a:lumOff val="80000"/>
            </a:schemeClr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1572733"/>
            <a:ext cx="3419475" cy="590931"/>
          </a:xfrm>
          <a:noFill/>
        </p:spPr>
        <p:txBody>
          <a:bodyPr wrap="square" bIns="9144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800" b="1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black. Bold. Sentence case.</a:t>
            </a:r>
          </a:p>
        </p:txBody>
      </p:sp>
      <p:sp>
        <p:nvSpPr>
          <p:cNvPr id="10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Body 1">
            <a:extLst>
              <a:ext uri="{FF2B5EF4-FFF2-40B4-BE49-F238E27FC236}">
                <a16:creationId xmlns:a16="http://schemas.microsoft.com/office/drawing/2014/main" id="{82C03A76-7437-CCE5-AA77-D22BE8AE05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933" y="2247900"/>
            <a:ext cx="3423867" cy="3227867"/>
          </a:xfrm>
          <a:noFill/>
        </p:spPr>
        <p:txBody>
          <a:bodyPr rIns="182880"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150" indent="-204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akeaway bar">
            <a:extLst>
              <a:ext uri="{FF2B5EF4-FFF2-40B4-BE49-F238E27FC236}">
                <a16:creationId xmlns:a16="http://schemas.microsoft.com/office/drawing/2014/main" id="{67AD0891-A881-5DC1-1013-4319173314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Optional takeaway bar. Black. Bold. 16 pt. Centered. Sentence case.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052439E-9AF4-ACA4-C314-22E8A138F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56923A8-BFAF-09ED-2EE9-F82ED4EB0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3883582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1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dy 1"/>
          <p:cNvSpPr>
            <a:spLocks noGrp="1"/>
          </p:cNvSpPr>
          <p:nvPr>
            <p:ph type="body" sz="quarter" idx="13" hasCustomPrompt="1"/>
          </p:nvPr>
        </p:nvSpPr>
        <p:spPr>
          <a:xfrm>
            <a:off x="696433" y="2294021"/>
            <a:ext cx="5247167" cy="3497178"/>
          </a:xfrm>
          <a:noFill/>
        </p:spPr>
        <p:txBody>
          <a:bodyPr rIns="182880"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150" indent="-204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1572733"/>
            <a:ext cx="5248274" cy="341632"/>
          </a:xfrm>
          <a:noFill/>
        </p:spPr>
        <p:txBody>
          <a:bodyPr wrap="square" bIns="9144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800" b="1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black. Bold. Sentence case. 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248401" y="1572733"/>
            <a:ext cx="5248274" cy="341632"/>
          </a:xfrm>
          <a:noFill/>
        </p:spPr>
        <p:txBody>
          <a:bodyPr wrap="square" bIns="9144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800" b="1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black. Bold. Sentence case. </a:t>
            </a:r>
          </a:p>
        </p:txBody>
      </p:sp>
      <p:sp>
        <p:nvSpPr>
          <p:cNvPr id="15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Body 1">
            <a:extLst>
              <a:ext uri="{FF2B5EF4-FFF2-40B4-BE49-F238E27FC236}">
                <a16:creationId xmlns:a16="http://schemas.microsoft.com/office/drawing/2014/main" id="{CBE0B946-A5C4-9B05-3ADE-B4FE962322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8400" y="2294021"/>
            <a:ext cx="5247167" cy="3497178"/>
          </a:xfrm>
          <a:noFill/>
        </p:spPr>
        <p:txBody>
          <a:bodyPr rIns="182880"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150" indent="-204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akeaway bar">
            <a:extLst>
              <a:ext uri="{FF2B5EF4-FFF2-40B4-BE49-F238E27FC236}">
                <a16:creationId xmlns:a16="http://schemas.microsoft.com/office/drawing/2014/main" id="{5E9B1FFA-BD88-F9E9-59C9-C7AE0E13A9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Optional takeaway bar. Black. Bold. 16 pt. Centered. Sentence case.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757467A-1A0B-9CF2-835A-491995583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522569-AB49-0EC2-F26C-04AB42854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330167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3">
            <a:extLst>
              <a:ext uri="{FF2B5EF4-FFF2-40B4-BE49-F238E27FC236}">
                <a16:creationId xmlns:a16="http://schemas.microsoft.com/office/drawing/2014/main" id="{1227C6EA-CADE-4772-BF2C-DF04CBDCF7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</p:spPr>
        <p:txBody>
          <a:bodyPr/>
          <a:lstStyle/>
          <a:p>
            <a:r>
              <a:rPr lang="en-US"/>
              <a:t>Title. 32 pt. black. Bold. Sentence case. Two lines max.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79596A4-F56F-4ABC-8E75-4BE60F7ED85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85802" y="1358207"/>
            <a:ext cx="3409912" cy="1940443"/>
          </a:xfrm>
          <a:solidFill>
            <a:schemeClr val="accent2">
              <a:lumMod val="20000"/>
              <a:lumOff val="80000"/>
            </a:schemeClr>
          </a:solidFill>
        </p:spPr>
        <p:txBody>
          <a:bodyPr tIns="365760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082A4F2F-B507-4076-99BD-50A0D640D83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72358" y="1358206"/>
            <a:ext cx="3429000" cy="1940444"/>
          </a:xfrm>
          <a:solidFill>
            <a:schemeClr val="accent2">
              <a:lumMod val="20000"/>
              <a:lumOff val="80000"/>
            </a:schemeClr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D1CCE81E-2A1A-4C37-8FB9-A87A38D462E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68057" y="1358207"/>
            <a:ext cx="3438143" cy="1940443"/>
          </a:xfrm>
          <a:solidFill>
            <a:schemeClr val="accent2">
              <a:lumMod val="20000"/>
              <a:lumOff val="80000"/>
            </a:schemeClr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8" name="Body 1">
            <a:extLst>
              <a:ext uri="{FF2B5EF4-FFF2-40B4-BE49-F238E27FC236}">
                <a16:creationId xmlns:a16="http://schemas.microsoft.com/office/drawing/2014/main" id="{06DFA2EB-3972-43A4-8F2F-1FA925C492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888" y="4103771"/>
            <a:ext cx="3409912" cy="1655644"/>
          </a:xfrm>
          <a:noFill/>
        </p:spPr>
        <p:txBody>
          <a:bodyPr rIns="182880"/>
          <a:lstStyle>
            <a:lvl1pPr marL="182880" marR="0" indent="-18288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15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520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808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7542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6998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19456" lvl="0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Main bullet. 15 pt. black.</a:t>
            </a:r>
          </a:p>
          <a:p>
            <a:pPr marL="438912" lvl="1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Second level</a:t>
            </a:r>
          </a:p>
          <a:p>
            <a:pPr marL="621792" lvl="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841248" lvl="3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Fourth level</a:t>
            </a:r>
          </a:p>
          <a:p>
            <a:pPr marL="1060704" lvl="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13B8C43-B217-4065-899D-965ABB835B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888" y="3513856"/>
            <a:ext cx="3411017" cy="5632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700" b="1" baseline="0">
                <a:latin typeface="+mj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17 pt. black. Bold. Sentence case.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0241EE5-BE3E-4ACB-AA02-55AD1071CF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71270" y="3513856"/>
            <a:ext cx="3449084" cy="5632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700" b="1" baseline="0">
                <a:latin typeface="+mj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17 pt. black. Bold. Sentence case.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C421A00-BD57-46F3-A96E-EBA27534BF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79811" y="3513856"/>
            <a:ext cx="3410355" cy="5632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700" b="1" baseline="0">
                <a:latin typeface="+mj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17 pt. black. Bold. Sentence case.</a:t>
            </a:r>
          </a:p>
        </p:txBody>
      </p:sp>
      <p:sp>
        <p:nvSpPr>
          <p:cNvPr id="2" name="Body 1">
            <a:extLst>
              <a:ext uri="{FF2B5EF4-FFF2-40B4-BE49-F238E27FC236}">
                <a16:creationId xmlns:a16="http://schemas.microsoft.com/office/drawing/2014/main" id="{D8C205A4-A491-3354-D436-AF9BF1F62E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81500" y="4103771"/>
            <a:ext cx="3409912" cy="1655644"/>
          </a:xfrm>
          <a:noFill/>
        </p:spPr>
        <p:txBody>
          <a:bodyPr rIns="182880"/>
          <a:lstStyle>
            <a:lvl1pPr marL="182880" marR="0" indent="-18288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15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520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808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7542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6998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19456" lvl="0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Main bullet. 15 pt. black.</a:t>
            </a:r>
          </a:p>
          <a:p>
            <a:pPr marL="438912" lvl="1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Second level</a:t>
            </a:r>
          </a:p>
          <a:p>
            <a:pPr marL="621792" lvl="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841248" lvl="3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Fourth level</a:t>
            </a:r>
          </a:p>
          <a:p>
            <a:pPr marL="1060704" lvl="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3" name="Body 1">
            <a:extLst>
              <a:ext uri="{FF2B5EF4-FFF2-40B4-BE49-F238E27FC236}">
                <a16:creationId xmlns:a16="http://schemas.microsoft.com/office/drawing/2014/main" id="{FB9FA8DA-D277-339F-4985-9623F740A89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5949" y="4103771"/>
            <a:ext cx="3409912" cy="1655644"/>
          </a:xfrm>
          <a:noFill/>
        </p:spPr>
        <p:txBody>
          <a:bodyPr rIns="182880"/>
          <a:lstStyle>
            <a:lvl1pPr marL="182880" marR="0" indent="-18288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15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520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808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7542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6998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19456" lvl="0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Main bullet. 15 pt. black.</a:t>
            </a:r>
          </a:p>
          <a:p>
            <a:pPr marL="438912" lvl="1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Second level</a:t>
            </a:r>
          </a:p>
          <a:p>
            <a:pPr marL="621792" lvl="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841248" lvl="3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Fourth level</a:t>
            </a:r>
          </a:p>
          <a:p>
            <a:pPr marL="1060704" lvl="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4" name="Takeaway bar">
            <a:extLst>
              <a:ext uri="{FF2B5EF4-FFF2-40B4-BE49-F238E27FC236}">
                <a16:creationId xmlns:a16="http://schemas.microsoft.com/office/drawing/2014/main" id="{F1C626FD-9651-7619-B6B8-C33DB71F60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Optional takeaway bar. Black. Bold. 16 pt. Centered. Sentence case.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A8EF709-B2B3-FDC4-BEA0-3E79EE4FF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C93F038-09D4-E830-DF95-DB9861755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3959176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1" cy="6172200"/>
          </a:xfrm>
          <a:solidFill>
            <a:schemeClr val="accent2">
              <a:lumMod val="20000"/>
              <a:lumOff val="80000"/>
            </a:schemeClr>
          </a:solidFill>
        </p:spPr>
        <p:txBody>
          <a:bodyPr tIns="548640"/>
          <a:lstStyle>
            <a:lvl1pPr algn="ctr">
              <a:defRPr b="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4" name="Section title"/>
          <p:cNvSpPr>
            <a:spLocks noGrp="1"/>
          </p:cNvSpPr>
          <p:nvPr>
            <p:ph type="title" hasCustomPrompt="1"/>
          </p:nvPr>
        </p:nvSpPr>
        <p:spPr>
          <a:xfrm>
            <a:off x="694944" y="2057400"/>
            <a:ext cx="8944356" cy="205740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baseline="0" dirty="0"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>
              <a:spcBef>
                <a:spcPts val="1000"/>
              </a:spcBef>
              <a:buSzPct val="115000"/>
              <a:buFont typeface="Arial" panose="020B0604020202020204" pitchFamily="34" charset="0"/>
            </a:pPr>
            <a:r>
              <a:rPr lang="en-US"/>
              <a:t>Section title. 55 pt. black. Bold. Sentence case. 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3233DA6-3194-CB55-7993-3414CBEB3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D7AF16C-A46F-6B86-376F-4753B041C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3333852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 title"/>
          <p:cNvSpPr>
            <a:spLocks noGrp="1"/>
          </p:cNvSpPr>
          <p:nvPr userDrawn="1">
            <p:ph type="title" hasCustomPrompt="1"/>
          </p:nvPr>
        </p:nvSpPr>
        <p:spPr>
          <a:xfrm>
            <a:off x="685800" y="2057399"/>
            <a:ext cx="7139619" cy="2769781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baseline="0" dirty="0"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>
              <a:spcBef>
                <a:spcPts val="1000"/>
              </a:spcBef>
              <a:buSzPct val="115000"/>
              <a:buFont typeface="Arial" panose="020B0604020202020204" pitchFamily="34" charset="0"/>
            </a:pPr>
            <a:r>
              <a:rPr lang="en-US"/>
              <a:t>Section title. 55 pt. black. Bold. Sentence case. </a:t>
            </a:r>
          </a:p>
        </p:txBody>
      </p:sp>
      <p:sp>
        <p:nvSpPr>
          <p:cNvPr id="15" name="Presenters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0881" y="1451343"/>
            <a:ext cx="7139619" cy="356191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1" baseline="0">
                <a:solidFill>
                  <a:schemeClr val="accent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Gray. Sentence case.</a:t>
            </a:r>
          </a:p>
        </p:txBody>
      </p:sp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2F658D7A-B710-3A1F-85B6-EA22382CE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7004211" y="1671980"/>
            <a:ext cx="5747158" cy="3253280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51878CD8-EB03-3BE4-466C-CAB36D3B7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239D1-DD08-2675-1706-F37FB90D4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40614511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E5F66BD-B24D-66F9-E108-0EEBA425F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1836211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ody">
            <a:extLst>
              <a:ext uri="{FF2B5EF4-FFF2-40B4-BE49-F238E27FC236}">
                <a16:creationId xmlns:a16="http://schemas.microsoft.com/office/drawing/2014/main" id="{126C87B5-8F18-7506-8B48-91F7DEB30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476001"/>
            <a:ext cx="10821419" cy="431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Main bullet. 24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4">
            <a:extLst>
              <a:ext uri="{FF2B5EF4-FFF2-40B4-BE49-F238E27FC236}">
                <a16:creationId xmlns:a16="http://schemas.microsoft.com/office/drawing/2014/main" id="{E516DAE2-402F-D2DE-B8E0-8573F9474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3255"/>
            <a:ext cx="10811256" cy="6797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marL="0" lvl="0">
              <a:lnSpc>
                <a:spcPct val="80000"/>
              </a:lnSpc>
            </a:pPr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84CACB-88CB-1EC0-707C-3DDA2AE83BAB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ED5C7154-EF93-4E4A-B226-EC4D611BA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2060" y="6328623"/>
            <a:ext cx="1935059" cy="329077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CD53B7A-E61B-21CA-5E4D-0BF49C054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29238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kern="120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843D3F67-9015-4550-CB5B-BE56FBCB92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A28FC03-B5C0-FCC1-1C47-833306EE0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defRPr lang="en-US" sz="700"/>
            </a:lvl1pPr>
          </a:lstStyle>
          <a:p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  <p:sp>
        <p:nvSpPr>
          <p:cNvPr id="3" name="Presenters"/>
          <p:cNvSpPr>
            <a:spLocks noGrp="1"/>
          </p:cNvSpPr>
          <p:nvPr>
            <p:ph type="body" idx="1"/>
          </p:nvPr>
        </p:nvSpPr>
        <p:spPr>
          <a:xfrm>
            <a:off x="647700" y="3811347"/>
            <a:ext cx="3581400" cy="3339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47700" y="2743200"/>
            <a:ext cx="10896600" cy="70184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598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98" r:id="rId3"/>
    <p:sldLayoutId id="2147483702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0" rtl="0" eaLnBrk="1" latinLnBrk="0" hangingPunct="1">
        <a:lnSpc>
          <a:spcPct val="90000"/>
        </a:lnSpc>
        <a:spcBef>
          <a:spcPts val="0"/>
        </a:spcBef>
        <a:buSzPct val="115000"/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 userDrawn="1">
          <p15:clr>
            <a:srgbClr val="A4A3A4"/>
          </p15:clr>
        </p15:guide>
        <p15:guide id="3" pos="7248" userDrawn="1">
          <p15:clr>
            <a:srgbClr val="A4A3A4"/>
          </p15:clr>
        </p15:guide>
        <p15:guide id="5" pos="1416" userDrawn="1">
          <p15:clr>
            <a:srgbClr val="A4A3A4"/>
          </p15:clr>
        </p15:guide>
        <p15:guide id="6" pos="1608" userDrawn="1">
          <p15:clr>
            <a:srgbClr val="A4A3A4"/>
          </p15:clr>
        </p15:guide>
        <p15:guide id="7" pos="2592" userDrawn="1">
          <p15:clr>
            <a:srgbClr val="A4A3A4"/>
          </p15:clr>
        </p15:guide>
        <p15:guide id="8" pos="2760" userDrawn="1">
          <p15:clr>
            <a:srgbClr val="A4A3A4"/>
          </p15:clr>
        </p15:guide>
        <p15:guide id="9" pos="3744" userDrawn="1">
          <p15:clr>
            <a:srgbClr val="A4A3A4"/>
          </p15:clr>
        </p15:guide>
        <p15:guide id="10" pos="3936" userDrawn="1">
          <p15:clr>
            <a:srgbClr val="A4A3A4"/>
          </p15:clr>
        </p15:guide>
        <p15:guide id="11" pos="4920" userDrawn="1">
          <p15:clr>
            <a:srgbClr val="A4A3A4"/>
          </p15:clr>
        </p15:guide>
        <p15:guide id="12" pos="5088" userDrawn="1">
          <p15:clr>
            <a:srgbClr val="A4A3A4"/>
          </p15:clr>
        </p15:guide>
        <p15:guide id="13" pos="6072" userDrawn="1">
          <p15:clr>
            <a:srgbClr val="A4A3A4"/>
          </p15:clr>
        </p15:guide>
        <p15:guide id="14" pos="6264" userDrawn="1">
          <p15:clr>
            <a:srgbClr val="A4A3A4"/>
          </p15:clr>
        </p15:guide>
        <p15:guide id="15" orient="horz" pos="3888" userDrawn="1">
          <p15:clr>
            <a:srgbClr val="547EBF"/>
          </p15:clr>
        </p15:guide>
        <p15:guide id="16" orient="horz" pos="1296" userDrawn="1">
          <p15:clr>
            <a:srgbClr val="547EBF"/>
          </p15:clr>
        </p15:guide>
        <p15:guide id="17" orient="horz" pos="2616" userDrawn="1">
          <p15:clr>
            <a:srgbClr val="547EBF"/>
          </p15:clr>
        </p15:guide>
        <p15:guide id="18" orient="horz" pos="2976" userDrawn="1">
          <p15:clr>
            <a:srgbClr val="547EBF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85800" y="1476001"/>
            <a:ext cx="10821419" cy="431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Main bullet. 24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4"/>
          <p:cNvSpPr>
            <a:spLocks noGrp="1"/>
          </p:cNvSpPr>
          <p:nvPr>
            <p:ph type="title"/>
          </p:nvPr>
        </p:nvSpPr>
        <p:spPr>
          <a:xfrm>
            <a:off x="694944" y="463255"/>
            <a:ext cx="10811256" cy="6797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44C6F71-09E4-25C7-49D5-4D03C17B6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CE0C1A-0107-0A7F-609C-1052CA94831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92060" y="6328623"/>
            <a:ext cx="1935059" cy="3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2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92" r:id="rId2"/>
    <p:sldLayoutId id="2147483695" r:id="rId3"/>
    <p:sldLayoutId id="2147483669" r:id="rId4"/>
    <p:sldLayoutId id="2147483664" r:id="rId5"/>
    <p:sldLayoutId id="2147483694" r:id="rId6"/>
  </p:sldLayoutIdLst>
  <p:hf sldNum="0" hdr="0" dt="0"/>
  <p:txStyles>
    <p:titleStyle>
      <a:lvl1pPr marL="0" algn="l" defTabSz="914400" rtl="0" eaLnBrk="1" latinLnBrk="0" hangingPunct="1">
        <a:lnSpc>
          <a:spcPct val="80000"/>
        </a:lnSpc>
        <a:spcBef>
          <a:spcPct val="0"/>
        </a:spcBef>
        <a:buNone/>
        <a:defRPr lang="en-US" sz="3200" b="1" kern="1200" baseline="0" dirty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19456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21792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41248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60704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48" userDrawn="1">
          <p15:clr>
            <a:srgbClr val="547EBF"/>
          </p15:clr>
        </p15:guide>
        <p15:guide id="3" pos="432" userDrawn="1">
          <p15:clr>
            <a:srgbClr val="547EBF"/>
          </p15:clr>
        </p15:guide>
        <p15:guide id="4" orient="horz" pos="3888" userDrawn="1">
          <p15:clr>
            <a:srgbClr val="547EBF"/>
          </p15:clr>
        </p15:guide>
        <p15:guide id="5" orient="horz" pos="288" userDrawn="1">
          <p15:clr>
            <a:srgbClr val="547EBF"/>
          </p15:clr>
        </p15:guide>
        <p15:guide id="6" pos="1416" userDrawn="1">
          <p15:clr>
            <a:srgbClr val="A4A3A4"/>
          </p15:clr>
        </p15:guide>
        <p15:guide id="7" pos="1608" userDrawn="1">
          <p15:clr>
            <a:srgbClr val="A4A3A4"/>
          </p15:clr>
        </p15:guide>
        <p15:guide id="8" pos="3744" userDrawn="1">
          <p15:clr>
            <a:srgbClr val="A4A3A4"/>
          </p15:clr>
        </p15:guide>
        <p15:guide id="9" pos="3936" userDrawn="1">
          <p15:clr>
            <a:srgbClr val="A4A3A4"/>
          </p15:clr>
        </p15:guide>
        <p15:guide id="10" pos="4920" userDrawn="1">
          <p15:clr>
            <a:srgbClr val="A4A3A4"/>
          </p15:clr>
        </p15:guide>
        <p15:guide id="11" pos="5088" userDrawn="1">
          <p15:clr>
            <a:srgbClr val="A4A3A4"/>
          </p15:clr>
        </p15:guide>
        <p15:guide id="12" pos="6072" userDrawn="1">
          <p15:clr>
            <a:srgbClr val="A4A3A4"/>
          </p15:clr>
        </p15:guide>
        <p15:guide id="13" pos="6264" userDrawn="1">
          <p15:clr>
            <a:srgbClr val="A4A3A4"/>
          </p15:clr>
        </p15:guide>
        <p15:guide id="14" pos="2592" userDrawn="1">
          <p15:clr>
            <a:srgbClr val="A4A3A4"/>
          </p15:clr>
        </p15:guide>
        <p15:guide id="15" pos="2760" userDrawn="1">
          <p15:clr>
            <a:srgbClr val="A4A3A4"/>
          </p15:clr>
        </p15:guide>
        <p15:guide id="16" orient="horz" pos="720" userDrawn="1">
          <p15:clr>
            <a:srgbClr val="547EBF"/>
          </p15:clr>
        </p15:guide>
        <p15:guide id="17" orient="horz" pos="480" userDrawn="1">
          <p15:clr>
            <a:srgbClr val="547EBF"/>
          </p15:clr>
        </p15:guide>
        <p15:guide id="18" orient="horz" pos="984" userDrawn="1">
          <p15:clr>
            <a:srgbClr val="F26B43"/>
          </p15:clr>
        </p15:guide>
        <p15:guide id="19" orient="horz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ers"/>
          <p:cNvSpPr>
            <a:spLocks noGrp="1"/>
          </p:cNvSpPr>
          <p:nvPr>
            <p:ph type="body" idx="1"/>
          </p:nvPr>
        </p:nvSpPr>
        <p:spPr>
          <a:xfrm>
            <a:off x="685800" y="3900728"/>
            <a:ext cx="3581400" cy="3339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1874225"/>
            <a:ext cx="10820400" cy="16619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547A21D-2A8F-FEFE-660B-5ECF70D43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39EFD31-F99D-6DAD-477F-89FB8BD32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F25938C5-1370-BE88-33C8-1B7269A32C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2060" y="6328623"/>
            <a:ext cx="1935059" cy="3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50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86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0" rtl="0" eaLnBrk="1" latinLnBrk="0" hangingPunct="1">
        <a:lnSpc>
          <a:spcPct val="90000"/>
        </a:lnSpc>
        <a:spcBef>
          <a:spcPts val="0"/>
        </a:spcBef>
        <a:buSzPct val="115000"/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A4A3A4"/>
          </p15:clr>
        </p15:guide>
        <p15:guide id="3" pos="7248">
          <p15:clr>
            <a:srgbClr val="A4A3A4"/>
          </p15:clr>
        </p15:guide>
        <p15:guide id="5" pos="1416">
          <p15:clr>
            <a:srgbClr val="A4A3A4"/>
          </p15:clr>
        </p15:guide>
        <p15:guide id="6" pos="1608">
          <p15:clr>
            <a:srgbClr val="A4A3A4"/>
          </p15:clr>
        </p15:guide>
        <p15:guide id="7" pos="2592">
          <p15:clr>
            <a:srgbClr val="A4A3A4"/>
          </p15:clr>
        </p15:guide>
        <p15:guide id="8" pos="2760">
          <p15:clr>
            <a:srgbClr val="A4A3A4"/>
          </p15:clr>
        </p15:guide>
        <p15:guide id="9" pos="3744">
          <p15:clr>
            <a:srgbClr val="A4A3A4"/>
          </p15:clr>
        </p15:guide>
        <p15:guide id="10" pos="3936">
          <p15:clr>
            <a:srgbClr val="A4A3A4"/>
          </p15:clr>
        </p15:guide>
        <p15:guide id="11" pos="4920">
          <p15:clr>
            <a:srgbClr val="A4A3A4"/>
          </p15:clr>
        </p15:guide>
        <p15:guide id="12" pos="5088">
          <p15:clr>
            <a:srgbClr val="A4A3A4"/>
          </p15:clr>
        </p15:guide>
        <p15:guide id="13" pos="6072">
          <p15:clr>
            <a:srgbClr val="A4A3A4"/>
          </p15:clr>
        </p15:guide>
        <p15:guide id="14" pos="6264">
          <p15:clr>
            <a:srgbClr val="A4A3A4"/>
          </p15:clr>
        </p15:guide>
        <p15:guide id="15" orient="horz" pos="3888">
          <p15:clr>
            <a:srgbClr val="547EBF"/>
          </p15:clr>
        </p15:guide>
        <p15:guide id="16" orient="horz" pos="1296">
          <p15:clr>
            <a:srgbClr val="547EBF"/>
          </p15:clr>
        </p15:guide>
        <p15:guide id="17" orient="horz" pos="2592">
          <p15:clr>
            <a:srgbClr val="547EBF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ody">
            <a:extLst>
              <a:ext uri="{FF2B5EF4-FFF2-40B4-BE49-F238E27FC236}">
                <a16:creationId xmlns:a16="http://schemas.microsoft.com/office/drawing/2014/main" id="{126C87B5-8F18-7506-8B48-91F7DEB30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476001"/>
            <a:ext cx="10821419" cy="431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Main bullet. 24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4">
            <a:extLst>
              <a:ext uri="{FF2B5EF4-FFF2-40B4-BE49-F238E27FC236}">
                <a16:creationId xmlns:a16="http://schemas.microsoft.com/office/drawing/2014/main" id="{E516DAE2-402F-D2DE-B8E0-8573F9474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3255"/>
            <a:ext cx="10811256" cy="6797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marL="0" lvl="0">
              <a:lnSpc>
                <a:spcPct val="80000"/>
              </a:lnSpc>
            </a:pPr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84CACB-88CB-1EC0-707C-3DDA2AE83BAB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ED5C7154-EF93-4E4A-B226-EC4D611BA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2060" y="6328623"/>
            <a:ext cx="1935059" cy="329077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CD53B7A-E61B-21CA-5E4D-0BF49C054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29238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kern="120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C4AFC-2F4F-6446-FD1E-523B4814A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19850"/>
            <a:ext cx="12192000" cy="103188"/>
          </a:xfrm>
        </p:spPr>
        <p:txBody>
          <a:bodyPr/>
          <a:lstStyle/>
          <a:p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FF0F6-9334-0727-35E8-7030F1C2454C}"/>
              </a:ext>
            </a:extLst>
          </p:cNvPr>
          <p:cNvSpPr txBox="1"/>
          <p:nvPr/>
        </p:nvSpPr>
        <p:spPr>
          <a:xfrm>
            <a:off x="6591631" y="4943925"/>
            <a:ext cx="3847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Hackathon’25 : Solve Rubik’s Cube</a:t>
            </a:r>
          </a:p>
        </p:txBody>
      </p:sp>
    </p:spTree>
    <p:extLst>
      <p:ext uri="{BB962C8B-B14F-4D97-AF65-F5344CB8AC3E}">
        <p14:creationId xmlns:p14="http://schemas.microsoft.com/office/powerpoint/2010/main" val="1958055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778507" y="4636316"/>
            <a:ext cx="4634981" cy="553998"/>
          </a:xfrm>
        </p:spPr>
        <p:txBody>
          <a:bodyPr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Aero Hack 2025-Round 3 Submission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G DILEEP KUMAR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26970" y="3722220"/>
            <a:ext cx="5138056" cy="914096"/>
          </a:xfrm>
        </p:spPr>
        <p:txBody>
          <a:bodyPr/>
          <a:lstStyle/>
          <a:p>
            <a:r>
              <a:rPr lang="en-US" dirty="0" smtClean="0"/>
              <a:t>Solving 3x3Rubik’s Cube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© 2025 Collins Aerospace. | Collins Aerospace Proprietary – for internal use only. | This document does not include any export controlled technical data.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1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4944" y="466347"/>
            <a:ext cx="10811256" cy="1149093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approach solving the Rubik's Cube as a multi-stage transformation from a scrambled state to a solved state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is broken down into logical steps based on established solving strategies: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smtClean="0"/>
              <a:t>© 2025 Collins Aerospace. | Collins Aerospace Proprietary – for internal use only. | This document does not include any export controlled technical data.</a:t>
            </a:r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685799" y="1986997"/>
            <a:ext cx="10490201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Step-by-Step Breakdown (Beginner Method):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White Cross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Align white edges with center colors.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White Corners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Place white corner pieces correctly.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Middle Layer Edges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Insert the 4 edge pieces of the middle layer.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Yellow Cross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Form a yellow cross on the top.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Position Yellow Corners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Move yellow corners to their correct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Orient Yellow Corners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Twist corners so yellow is on top.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Align Yellow Edges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Complete cube with proper final rotations.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modularity allows debugging and enhancement of each phase separately.</a:t>
            </a:r>
          </a:p>
        </p:txBody>
      </p:sp>
      <p:pic>
        <p:nvPicPr>
          <p:cNvPr id="8195" name="Picture 3" descr="Rubik's cube patterns on a 3x3 | easy to follow steps included + VIDE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640" y="1727835"/>
            <a:ext cx="4353560" cy="154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81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685799" y="1143000"/>
            <a:ext cx="10829543" cy="464820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Breaking Down the Problem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Rubik’s Cube solution involves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multi-phase process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decomposed into: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the cube's current state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valid moves that transition it toward a solved state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when the goal state is reached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cube can be solved using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layer-by-layer strategy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cross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corners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layer edges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yellow cross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yellow corners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yellow corners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alignment of last layer edges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known as the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Beginner’s Method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—easy to implement and debug.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Alternatively, more advanced methods like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CFOP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Thistlethwaite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Kociemba’s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for optimal solving but require precomputed tables and deeper heuristics.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smtClean="0"/>
              <a:t>© 2025 Collins Aerospace. | Collins Aerospace Proprietary – for internal use only. | This document does not include any export controlled technical data.</a:t>
            </a:r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Problem-Solving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3579330" y="-9135612"/>
            <a:ext cx="55837" cy="176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150" name="Picture 6" descr="3x3 Rubik's c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661" y="759506"/>
            <a:ext cx="2897979" cy="356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86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685799" y="1012371"/>
            <a:ext cx="10829543" cy="4778829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face of the cube(U,D,F,B,L,R) has 3x3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facelets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Thus,we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 model the cube as a dictionary of 2d arrays:</a:t>
            </a:r>
          </a:p>
          <a:p>
            <a:pPr marL="0" indent="0">
              <a:buNone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</a:p>
          <a:p>
            <a:pPr marL="0" indent="0">
              <a:buNone/>
            </a:pPr>
            <a:r>
              <a:rPr lang="en-IN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CopyEdit</a:t>
            </a:r>
            <a:endParaRPr lang="en-IN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Cube={</a:t>
            </a:r>
          </a:p>
          <a:p>
            <a:pPr marL="0" indent="0">
              <a:buNone/>
            </a:pP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‘u’:[[‘w’]*3 </a:t>
            </a:r>
            <a:r>
              <a:rPr lang="en-IN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for_in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range(3)],        # White</a:t>
            </a:r>
          </a:p>
          <a:p>
            <a:pPr marL="0" indent="0">
              <a:buNone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‘D’: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[['Y']*3 for _ in range(3)],  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# Yellow</a:t>
            </a:r>
          </a:p>
          <a:p>
            <a:pPr marL="0" indent="0">
              <a:buNone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'F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': [['G']*3 for _ in range(3)],  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#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</a:p>
          <a:p>
            <a:pPr marL="0" indent="0">
              <a:buNone/>
            </a:pP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'B': [['B']*3 for _ in range(3)],  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#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</a:p>
          <a:p>
            <a:pPr marL="0" indent="0">
              <a:buNone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'L': [['O']*3 for _ in range(3)],   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#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Orange</a:t>
            </a:r>
          </a:p>
          <a:p>
            <a:pPr marL="0" indent="0">
              <a:buNone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'R': [['R']*3 for _ in range(3)],  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#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Red</a:t>
            </a:r>
          </a:p>
          <a:p>
            <a:pPr marL="0" indent="0">
              <a:buNone/>
            </a:pPr>
            <a:r>
              <a:rPr lang="en-IN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move (e.g., U, R') modifies both the face and adjacent edge pieces. We write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engine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updates the cube state for each of the 12 base moves.</a:t>
            </a:r>
          </a:p>
          <a:p>
            <a:endParaRPr lang="en-IN" sz="14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Cube and Moves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smtClean="0"/>
              <a:t>© 2025 Collins Aerospace. | Collins Aerospace Proprietary – for internal use only. | This document does not include any export controlled technical data.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25486" y="13467443"/>
            <a:ext cx="152022" cy="239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8" name="Picture 6" descr="person playing magic c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3601" y="1897743"/>
            <a:ext cx="2720976" cy="258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510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Internal Representation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smtClean="0"/>
              <a:t>© 2025 Collins Aerospace. | Collins Aerospace Proprietary – for internal use only. | This document does not include any export controlled technical data.</a:t>
            </a:r>
            <a:endParaRPr lang="en-US"/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✅ 2. Use of Data Structures</a:t>
            </a:r>
            <a:endParaRPr lang="en-IN" dirty="0"/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915716"/>
              </p:ext>
            </p:extLst>
          </p:nvPr>
        </p:nvGraphicFramePr>
        <p:xfrm>
          <a:off x="685802" y="2139044"/>
          <a:ext cx="8327568" cy="135527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775856">
                  <a:extLst>
                    <a:ext uri="{9D8B030D-6E8A-4147-A177-3AD203B41FA5}">
                      <a16:colId xmlns:a16="http://schemas.microsoft.com/office/drawing/2014/main" val="1823856148"/>
                    </a:ext>
                  </a:extLst>
                </a:gridCol>
                <a:gridCol w="2775856">
                  <a:extLst>
                    <a:ext uri="{9D8B030D-6E8A-4147-A177-3AD203B41FA5}">
                      <a16:colId xmlns:a16="http://schemas.microsoft.com/office/drawing/2014/main" val="452260368"/>
                    </a:ext>
                  </a:extLst>
                </a:gridCol>
                <a:gridCol w="2775856">
                  <a:extLst>
                    <a:ext uri="{9D8B030D-6E8A-4147-A177-3AD203B41FA5}">
                      <a16:colId xmlns:a16="http://schemas.microsoft.com/office/drawing/2014/main" val="1620944633"/>
                    </a:ext>
                  </a:extLst>
                </a:gridCol>
              </a:tblGrid>
              <a:tr h="2735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Option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Used?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Reason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5088114"/>
                  </a:ext>
                </a:extLst>
              </a:tr>
              <a:tr h="2735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3D Array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❌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Adds unnecessary complexity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3791528"/>
                  </a:ext>
                </a:extLst>
              </a:tr>
              <a:tr h="2735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Dict of 2D Arrays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✅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Clear mapping of faces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9685775"/>
                  </a:ext>
                </a:extLst>
              </a:tr>
              <a:tr h="5347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Graphs / Trees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❌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Too heavy for standard solving; used in search-based solvers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996541"/>
                  </a:ext>
                </a:extLst>
              </a:tr>
            </a:tbl>
          </a:graphicData>
        </a:graphic>
      </p:graphicFrame>
      <p:pic>
        <p:nvPicPr>
          <p:cNvPr id="1044" name="Picture 20" descr="Beginner's Method to Solve a 3x3 C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944" y="3671378"/>
            <a:ext cx="4791456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28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685799" y="2153920"/>
            <a:ext cx="10829543" cy="3637280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</a:p>
          <a:p>
            <a:pPr marL="0" indent="0">
              <a:buNone/>
            </a:pPr>
            <a:r>
              <a:rPr lang="en-I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CopyEdit</a:t>
            </a:r>
          </a:p>
          <a:p>
            <a:pPr marL="0" indent="0">
              <a:buNone/>
            </a:pPr>
            <a:r>
              <a:rPr lang="en-I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seen_states = set()</a:t>
            </a:r>
          </a:p>
          <a:p>
            <a:pPr marL="0" indent="0">
              <a:buNone/>
            </a:pPr>
            <a:r>
              <a:rPr lang="en-I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state_string = stringify(cube)  # function that converts cube state to string</a:t>
            </a:r>
          </a:p>
          <a:p>
            <a:pPr marL="0" indent="0">
              <a:buNone/>
            </a:pPr>
            <a:r>
              <a:rPr lang="en-I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state_string not in seen_states:</a:t>
            </a:r>
          </a:p>
          <a:p>
            <a:pPr marL="0" indent="0">
              <a:buNone/>
            </a:pPr>
            <a:r>
              <a:rPr lang="en-I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seen_states.add(state_string)</a:t>
            </a:r>
          </a:p>
          <a:p>
            <a:pPr marL="0" indent="0">
              <a:buNone/>
            </a:pPr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4944" y="466347"/>
            <a:ext cx="10811256" cy="2309510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Efficient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Cube State Tracking: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faces for direct access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History: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list to store sequence of moves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Revisit (if search-based):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hashable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stringified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cube state + set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smtClean="0"/>
              <a:t>© 2025 Collins Aerospace. | Collins Aerospace Proprietary – for internal use only. | This document does not include any export controlled technical data.</a:t>
            </a:r>
            <a:endParaRPr lang="en-US"/>
          </a:p>
        </p:txBody>
      </p:sp>
      <p:pic>
        <p:nvPicPr>
          <p:cNvPr id="2052" name="Picture 4" descr="Rubik's Cube Solver 3x3x3 - Grubi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496" y="963295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76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Predict Next State?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Yes. The move engine manipulates both the: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 face rotation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rotating face 'R')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Adjacent edges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edge strips connected to 'R')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basic move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</a:p>
          <a:p>
            <a:pPr marL="0" indent="0">
              <a:buNone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CopyEdit</a:t>
            </a:r>
          </a:p>
          <a:p>
            <a:pPr marL="0" indent="0">
              <a:buNone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 rotate_face_cw(face):</a:t>
            </a:r>
          </a:p>
          <a:p>
            <a:pPr marL="0" indent="0">
              <a:buNone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[list(row) for row in zip(*face[::-1])]  # 90° clockwise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engine updates edge pieces accordingly. Each move is atomic and reversible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3. State Prediction Logic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smtClean="0"/>
              <a:t>© 2025 Collins Aerospace. | Collins Aerospace Proprietary – for internal use only. | This document does not include any export controlled technical data.</a:t>
            </a:r>
            <a:endParaRPr lang="en-US"/>
          </a:p>
        </p:txBody>
      </p:sp>
      <p:pic>
        <p:nvPicPr>
          <p:cNvPr id="7170" name="Picture 2" descr="Rubik's Cube - The Strong National Museum of Pl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395" y="635000"/>
            <a:ext cx="3209925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515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704849" y="879475"/>
            <a:ext cx="10477501" cy="203200"/>
          </a:xfrm>
        </p:spPr>
        <p:txBody>
          <a:bodyPr/>
          <a:lstStyle/>
          <a:p>
            <a:pPr marL="0" indent="0">
              <a:buNone/>
            </a:pPr>
            <a:r>
              <a:rPr lang="en-IN" sz="1400" dirty="0">
                <a:solidFill>
                  <a:srgbClr val="0070C0"/>
                </a:solidFill>
                <a:latin typeface="Courier New"/>
              </a:rPr>
              <a:t>https://github.com/Dileepkumar-315/3x3x3-Rubbik-s-cube-Solver/upload/main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Algorithm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dirty="0" smtClean="0"/>
              <a:t>© 2025 Collins Aerospace. | Collins Aerospace Proprietary – for internal use only. | This document does not include any export controlled technical data.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71500" y="1203325"/>
            <a:ext cx="3886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Cube </a:t>
            </a: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</a:t>
            </a: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/>
              <a:t>class </a:t>
            </a:r>
            <a:r>
              <a:rPr lang="en-IN" sz="1600" dirty="0" err="1"/>
              <a:t>RubiksCube</a:t>
            </a:r>
            <a:r>
              <a:rPr lang="en-IN" sz="1600" dirty="0"/>
              <a:t>: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def</a:t>
            </a:r>
            <a:r>
              <a:rPr lang="en-IN" sz="1600" dirty="0"/>
              <a:t> __</a:t>
            </a:r>
            <a:r>
              <a:rPr lang="en-IN" sz="1600" dirty="0" err="1"/>
              <a:t>init</a:t>
            </a:r>
            <a:r>
              <a:rPr lang="en-IN" sz="1600" dirty="0"/>
              <a:t>__(self):</a:t>
            </a:r>
          </a:p>
          <a:p>
            <a:r>
              <a:rPr lang="en-IN" sz="1600" dirty="0"/>
              <a:t>        # Faces: U, D, F, B, L, R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self.faces</a:t>
            </a:r>
            <a:r>
              <a:rPr lang="en-IN" sz="1600" dirty="0"/>
              <a:t> = {</a:t>
            </a:r>
          </a:p>
          <a:p>
            <a:r>
              <a:rPr lang="en-IN" sz="1600" dirty="0"/>
              <a:t>            'U': [['W'] * 3 for _ in range(3)],</a:t>
            </a:r>
          </a:p>
          <a:p>
            <a:r>
              <a:rPr lang="en-IN" sz="1600" dirty="0"/>
              <a:t>            'D': [['Y'] * 3 for _ in range(3)],</a:t>
            </a:r>
          </a:p>
          <a:p>
            <a:r>
              <a:rPr lang="en-IN" sz="1600" dirty="0"/>
              <a:t>            'F': [['G'] * 3 for _ in range(3)],</a:t>
            </a:r>
          </a:p>
          <a:p>
            <a:r>
              <a:rPr lang="en-IN" sz="1600" dirty="0"/>
              <a:t>            'B': [['B'] * 3 for _ in range(3)],</a:t>
            </a:r>
          </a:p>
          <a:p>
            <a:r>
              <a:rPr lang="en-IN" sz="1600" dirty="0"/>
              <a:t>            'L': [['O'] * 3 for _ in range(3)],</a:t>
            </a:r>
          </a:p>
          <a:p>
            <a:r>
              <a:rPr lang="en-IN" sz="1600" dirty="0"/>
              <a:t>            'R': [['R'] * 3 for _ in range(3)],</a:t>
            </a:r>
          </a:p>
          <a:p>
            <a:r>
              <a:rPr lang="en-IN" sz="1600" dirty="0"/>
              <a:t>        }</a:t>
            </a:r>
          </a:p>
          <a:p>
            <a:endParaRPr lang="en-IN" sz="1600" dirty="0"/>
          </a:p>
          <a:p>
            <a:r>
              <a:rPr lang="en-IN" sz="1600" dirty="0"/>
              <a:t>    </a:t>
            </a:r>
            <a:r>
              <a:rPr lang="en-IN" sz="1600" dirty="0" err="1"/>
              <a:t>def</a:t>
            </a:r>
            <a:r>
              <a:rPr lang="en-IN" sz="1600" dirty="0"/>
              <a:t> </a:t>
            </a:r>
            <a:r>
              <a:rPr lang="en-IN" sz="1600" dirty="0" err="1"/>
              <a:t>print_cube</a:t>
            </a:r>
            <a:r>
              <a:rPr lang="en-IN" sz="1600" dirty="0"/>
              <a:t>(self):</a:t>
            </a:r>
          </a:p>
          <a:p>
            <a:r>
              <a:rPr lang="en-IN" sz="1600" dirty="0"/>
              <a:t>        for face in ['U', 'D', 'F', 'B', 'L', 'R']:</a:t>
            </a:r>
          </a:p>
          <a:p>
            <a:r>
              <a:rPr lang="en-IN" sz="1600" dirty="0"/>
              <a:t>            print(face + ":")</a:t>
            </a:r>
          </a:p>
          <a:p>
            <a:r>
              <a:rPr lang="en-IN" sz="1600" dirty="0"/>
              <a:t>            for row in </a:t>
            </a:r>
            <a:r>
              <a:rPr lang="en-IN" sz="1600" dirty="0" err="1"/>
              <a:t>self.faces</a:t>
            </a:r>
            <a:r>
              <a:rPr lang="en-IN" sz="1600" dirty="0"/>
              <a:t>[face]:</a:t>
            </a:r>
          </a:p>
          <a:p>
            <a:r>
              <a:rPr lang="en-IN" sz="1600" dirty="0"/>
              <a:t>                print(" ".join(row))</a:t>
            </a:r>
          </a:p>
          <a:p>
            <a:r>
              <a:rPr lang="en-IN" sz="1600" dirty="0"/>
              <a:t>            print()</a:t>
            </a: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229099" y="1281554"/>
            <a:ext cx="3429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Face Rotation Utility</a:t>
            </a:r>
          </a:p>
          <a:p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 err="1"/>
              <a:t>rotate_face_cw</a:t>
            </a:r>
            <a:r>
              <a:rPr lang="en-US" dirty="0"/>
              <a:t>(face):</a:t>
            </a:r>
          </a:p>
          <a:p>
            <a:r>
              <a:rPr lang="en-US" dirty="0"/>
              <a:t>    return [list(row) for row in zip(*face[::-1])]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rotate_face_ccw</a:t>
            </a:r>
            <a:r>
              <a:rPr lang="en-US" dirty="0"/>
              <a:t>(face):</a:t>
            </a:r>
          </a:p>
          <a:p>
            <a:r>
              <a:rPr lang="en-US" dirty="0"/>
              <a:t>    return [list(row) for row in zip(*face)][::-1]</a:t>
            </a: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4229100" y="3654608"/>
            <a:ext cx="4927600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Implement Move – Example: Right ®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err="1"/>
              <a:t>def</a:t>
            </a:r>
            <a:r>
              <a:rPr lang="en-US" altLang="en-US" sz="1200" dirty="0"/>
              <a:t> </a:t>
            </a:r>
            <a:r>
              <a:rPr lang="en-US" altLang="en-US" sz="1200" dirty="0" err="1"/>
              <a:t>move_R</a:t>
            </a:r>
            <a:r>
              <a:rPr lang="en-US" altLang="en-US" sz="1200" dirty="0"/>
              <a:t>(cube):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    </a:t>
            </a:r>
            <a:r>
              <a:rPr lang="en-US" altLang="en-US" sz="1200" dirty="0" err="1"/>
              <a:t>cube.faces</a:t>
            </a:r>
            <a:r>
              <a:rPr lang="en-US" altLang="en-US" sz="1200" dirty="0"/>
              <a:t>['R'] = </a:t>
            </a:r>
            <a:r>
              <a:rPr lang="en-US" altLang="en-US" sz="1200" dirty="0" err="1"/>
              <a:t>rotate_face_cw</a:t>
            </a:r>
            <a:r>
              <a:rPr lang="en-US" altLang="en-US" sz="1200" dirty="0"/>
              <a:t>(</a:t>
            </a:r>
            <a:r>
              <a:rPr lang="en-US" altLang="en-US" sz="1200" dirty="0" err="1"/>
              <a:t>cube.faces</a:t>
            </a:r>
            <a:r>
              <a:rPr lang="en-US" altLang="en-US" sz="1200" dirty="0"/>
              <a:t>['R'])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smtClean="0"/>
              <a:t>    </a:t>
            </a:r>
            <a:r>
              <a:rPr lang="en-US" altLang="en-US" sz="1200" dirty="0"/>
              <a:t>U = </a:t>
            </a:r>
            <a:r>
              <a:rPr lang="en-US" altLang="en-US" sz="1200" dirty="0" err="1"/>
              <a:t>cube.faces</a:t>
            </a:r>
            <a:r>
              <a:rPr lang="en-US" altLang="en-US" sz="1200" dirty="0"/>
              <a:t>['U']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    F = </a:t>
            </a:r>
            <a:r>
              <a:rPr lang="en-US" altLang="en-US" sz="1200" dirty="0" err="1"/>
              <a:t>cube.faces</a:t>
            </a:r>
            <a:r>
              <a:rPr lang="en-US" altLang="en-US" sz="1200" dirty="0"/>
              <a:t>['F']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    D = </a:t>
            </a:r>
            <a:r>
              <a:rPr lang="en-US" altLang="en-US" sz="1200" dirty="0" err="1"/>
              <a:t>cube.faces</a:t>
            </a:r>
            <a:r>
              <a:rPr lang="en-US" altLang="en-US" sz="1200" dirty="0"/>
              <a:t>['D']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    B = </a:t>
            </a:r>
            <a:r>
              <a:rPr lang="en-US" altLang="en-US" sz="1200" dirty="0" err="1"/>
              <a:t>cube.faces</a:t>
            </a:r>
            <a:r>
              <a:rPr lang="en-US" altLang="en-US" sz="1200" dirty="0"/>
              <a:t>['B']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smtClean="0"/>
              <a:t>    </a:t>
            </a:r>
            <a:r>
              <a:rPr lang="en-US" altLang="en-US" sz="1200" dirty="0"/>
              <a:t>temp = [U[</a:t>
            </a:r>
            <a:r>
              <a:rPr lang="en-US" altLang="en-US" sz="1200" dirty="0" err="1"/>
              <a:t>i</a:t>
            </a:r>
            <a:r>
              <a:rPr lang="en-US" altLang="en-US" sz="1200" dirty="0"/>
              <a:t>][2] for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 in range(3)]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    for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 in range(3):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        U[</a:t>
            </a:r>
            <a:r>
              <a:rPr lang="en-US" altLang="en-US" sz="1200" dirty="0" err="1"/>
              <a:t>i</a:t>
            </a:r>
            <a:r>
              <a:rPr lang="en-US" altLang="en-US" sz="1200" dirty="0"/>
              <a:t>][2] = F[</a:t>
            </a:r>
            <a:r>
              <a:rPr lang="en-US" altLang="en-US" sz="1200" dirty="0" err="1"/>
              <a:t>i</a:t>
            </a:r>
            <a:r>
              <a:rPr lang="en-US" altLang="en-US" sz="1200" dirty="0"/>
              <a:t>][2]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        F[</a:t>
            </a:r>
            <a:r>
              <a:rPr lang="en-US" altLang="en-US" sz="1200" dirty="0" err="1"/>
              <a:t>i</a:t>
            </a:r>
            <a:r>
              <a:rPr lang="en-US" altLang="en-US" sz="1200" dirty="0"/>
              <a:t>][2] = D[</a:t>
            </a:r>
            <a:r>
              <a:rPr lang="en-US" altLang="en-US" sz="1200" dirty="0" err="1"/>
              <a:t>i</a:t>
            </a:r>
            <a:r>
              <a:rPr lang="en-US" altLang="en-US" sz="1200" dirty="0"/>
              <a:t>][2]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        D[</a:t>
            </a:r>
            <a:r>
              <a:rPr lang="en-US" altLang="en-US" sz="1200" dirty="0" err="1"/>
              <a:t>i</a:t>
            </a:r>
            <a:r>
              <a:rPr lang="en-US" altLang="en-US" sz="1200" dirty="0"/>
              <a:t>][2] = B[2 -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][0]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        B[2 -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][0] = temp[</a:t>
            </a:r>
            <a:r>
              <a:rPr lang="en-US" altLang="en-US" sz="1200" dirty="0" err="1"/>
              <a:t>i</a:t>
            </a:r>
            <a:r>
              <a:rPr lang="en-US" altLang="en-US" sz="1200" dirty="0"/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13700" y="1495596"/>
            <a:ext cx="37465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Scramble and Solve Example – White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scramble(cube, moves):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move in moves: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move == "R":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move_R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(cube)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Add other moves similarly...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solve_white_cross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(cube):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Dummy implementation for example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print("Solving white cross...")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Real logic would identify white edge positions and rotate them into place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212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744720" y="452765"/>
            <a:ext cx="6638542" cy="2353053"/>
          </a:xfrm>
        </p:spPr>
        <p:txBody>
          <a:bodyPr/>
          <a:lstStyle/>
          <a:p>
            <a:r>
              <a:rPr lang="en-IN" b="1" dirty="0"/>
              <a:t>Before Solving (After </a:t>
            </a:r>
            <a:r>
              <a:rPr lang="en-IN" b="1" dirty="0" smtClean="0"/>
              <a:t>Scramble)</a:t>
            </a:r>
            <a:endParaRPr lang="en-IN" b="1" dirty="0" smtClean="0"/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Scrambled cube: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U:                   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D:          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F:            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B:            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L:                R: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Y  G     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Y Y        G W Y           W B G         O G G         R  W Y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W G     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G Y          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B         O O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 R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Y  G       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Y Y        G W Y           W B G         O G G         R  W Y</a:t>
            </a:r>
          </a:p>
          <a:p>
            <a:endParaRPr lang="en-IN" b="1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2864" y="452765"/>
            <a:ext cx="4181856" cy="5165069"/>
          </a:xfrm>
        </p:spPr>
        <p:txBody>
          <a:bodyPr/>
          <a:lstStyle/>
          <a:p>
            <a:r>
              <a:rPr lang="en-IN" dirty="0"/>
              <a:t>STEP 5: </a:t>
            </a:r>
            <a:r>
              <a:rPr lang="en-IN" dirty="0" smtClean="0"/>
              <a:t>Execution</a:t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"__main__":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cube = </a:t>
            </a:r>
            <a:r>
              <a:rPr lang="en-I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RubiksCube</a:t>
            </a: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scramble_moves</a:t>
            </a: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["R", "R", "R"]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scramble(cube, </a:t>
            </a:r>
            <a:r>
              <a:rPr lang="en-I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scramble_moves</a:t>
            </a: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print("Scrambled cube:")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cube.print_cube</a:t>
            </a: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solve_white_cross</a:t>
            </a: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(cube)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print("Post white cross (placeholder):")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cube.print_cube</a:t>
            </a: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smtClean="0"/>
              <a:t>© 2025 Collins Aerospace. | Collins Aerospace Proprietary – for internal use only. | This document does not include any export controlled technical data.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876800" y="3106420"/>
            <a:ext cx="61595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white cross (placeholder):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U:	  D: 	  F: 	B:	L:	 R: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	 W Y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	W B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O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R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	 W Y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	W B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R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	 W Y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	W B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R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424902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685799" y="1959428"/>
            <a:ext cx="10829543" cy="3831771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Algorithm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🕒 Speed &amp; Complexity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4944" y="466348"/>
            <a:ext cx="10811256" cy="1384934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🔁 Abstraction of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Moves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move (U, U', R, R', etc.) is represented as a function or object. They can be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1.Chained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["U", "R", "U'"]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2.Reversed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reversed_move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("U") -&gt; "U'"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smtClean="0"/>
              <a:t>© 2025 Collins Aerospace. | Collins Aerospace Proprietary – for internal use only. | This document does not include any export controlled technical data.</a:t>
            </a:r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506843"/>
              </p:ext>
            </p:extLst>
          </p:nvPr>
        </p:nvGraphicFramePr>
        <p:xfrm>
          <a:off x="685798" y="2976880"/>
          <a:ext cx="10205358" cy="145288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401786">
                  <a:extLst>
                    <a:ext uri="{9D8B030D-6E8A-4147-A177-3AD203B41FA5}">
                      <a16:colId xmlns:a16="http://schemas.microsoft.com/office/drawing/2014/main" val="2406565661"/>
                    </a:ext>
                  </a:extLst>
                </a:gridCol>
                <a:gridCol w="3401786">
                  <a:extLst>
                    <a:ext uri="{9D8B030D-6E8A-4147-A177-3AD203B41FA5}">
                      <a16:colId xmlns:a16="http://schemas.microsoft.com/office/drawing/2014/main" val="2642478578"/>
                    </a:ext>
                  </a:extLst>
                </a:gridCol>
                <a:gridCol w="3401786">
                  <a:extLst>
                    <a:ext uri="{9D8B030D-6E8A-4147-A177-3AD203B41FA5}">
                      <a16:colId xmlns:a16="http://schemas.microsoft.com/office/drawing/2014/main" val="1076763723"/>
                    </a:ext>
                  </a:extLst>
                </a:gridCol>
              </a:tblGrid>
              <a:tr h="5465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Metric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Beginner Method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Advanced (e.g., IDA*)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82994654"/>
                  </a:ext>
                </a:extLst>
              </a:tr>
              <a:tr h="2523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Time Complexity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~O(1) steps per layer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Depends on depth (IDA*)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81612805"/>
                  </a:ext>
                </a:extLst>
              </a:tr>
              <a:tr h="6540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Space Complexity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O(1) for cube + moves list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High for heuristic tables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513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12767" y="4611757"/>
            <a:ext cx="5483232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Beginner method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not optimal but fast and predictable.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908" y="5184383"/>
            <a:ext cx="10893434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Kociemba</a:t>
            </a: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/IDA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gives shorter solutions but needs more memory and precomputing.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86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685799" y="2155370"/>
            <a:ext cx="10829543" cy="3635829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4944" y="466347"/>
            <a:ext cx="10811256" cy="199926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📏 Move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Optimality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Beginner’s </a:t>
            </a: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~100–150 moves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Solver (</a:t>
            </a:r>
            <a:r>
              <a:rPr lang="en-I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Kociemba</a:t>
            </a: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~20 moves (God’s Number ≤ 20)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smtClean="0"/>
              <a:t>© 2025 Collins Aerospace. | Collins Aerospace Proprietary – for internal use only. | This document does not include any export controlled technical data.</a:t>
            </a:r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839370"/>
              </p:ext>
            </p:extLst>
          </p:nvPr>
        </p:nvGraphicFramePr>
        <p:xfrm>
          <a:off x="684212" y="2745062"/>
          <a:ext cx="10288588" cy="2354867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5144294">
                  <a:extLst>
                    <a:ext uri="{9D8B030D-6E8A-4147-A177-3AD203B41FA5}">
                      <a16:colId xmlns:a16="http://schemas.microsoft.com/office/drawing/2014/main" val="3149371255"/>
                    </a:ext>
                  </a:extLst>
                </a:gridCol>
                <a:gridCol w="5144294">
                  <a:extLst>
                    <a:ext uri="{9D8B030D-6E8A-4147-A177-3AD203B41FA5}">
                      <a16:colId xmlns:a16="http://schemas.microsoft.com/office/drawing/2014/main" val="1594402257"/>
                    </a:ext>
                  </a:extLst>
                </a:gridCol>
              </a:tblGrid>
              <a:tr h="5155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Notes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93342768"/>
                  </a:ext>
                </a:extLst>
              </a:tr>
              <a:tr h="5155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Decomposition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Layer-by-layer (Beginner method)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88965556"/>
                  </a:ext>
                </a:extLst>
              </a:tr>
              <a:tr h="5155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</a:t>
                      </a: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2D arrays, list for history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99727857"/>
                  </a:ext>
                </a:extLst>
              </a:tr>
              <a:tr h="5155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Logic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move engine with chaining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96617155"/>
                  </a:ext>
                </a:extLst>
              </a:tr>
              <a:tr h="2710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Efficiency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for solving, scalable to 4x4+ if modularized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5016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320234"/>
      </p:ext>
    </p:extLst>
  </p:cSld>
  <p:clrMapOvr>
    <a:masterClrMapping/>
  </p:clrMapOvr>
</p:sld>
</file>

<file path=ppt/theme/theme1.xml><?xml version="1.0" encoding="utf-8"?>
<a:theme xmlns:a="http://schemas.openxmlformats.org/drawingml/2006/main" name="COL: Jurisdiction Slid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L-NO-TECH-DATA-presentation-template.pptx" id="{99C0F7E4-CCEA-4C8C-A6C8-A1A2BC34D1BC}" vid="{876D645B-8286-462A-9501-A512E30D175A}"/>
    </a:ext>
  </a:extLst>
</a:theme>
</file>

<file path=ppt/theme/theme2.xml><?xml version="1.0" encoding="utf-8"?>
<a:theme xmlns:a="http://schemas.openxmlformats.org/drawingml/2006/main" name="COL Masters: Covers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-NO-TECH-DATA-presentation-template.pptx" id="{99C0F7E4-CCEA-4C8C-A6C8-A1A2BC34D1BC}" vid="{DD0F330A-81C6-4891-9E95-AB736A597DA6}"/>
    </a:ext>
  </a:extLst>
</a:theme>
</file>

<file path=ppt/theme/theme3.xml><?xml version="1.0" encoding="utf-8"?>
<a:theme xmlns:a="http://schemas.openxmlformats.org/drawingml/2006/main" name="COL Masters: Content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-NO-TECH-DATA-presentation-template.pptx" id="{99C0F7E4-CCEA-4C8C-A6C8-A1A2BC34D1BC}" vid="{2AD6D657-B874-44EB-9275-7D5EE671E454}"/>
    </a:ext>
  </a:extLst>
</a:theme>
</file>

<file path=ppt/theme/theme4.xml><?xml version="1.0" encoding="utf-8"?>
<a:theme xmlns:a="http://schemas.openxmlformats.org/drawingml/2006/main" name="COL Masters: Section Breakers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RTX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-NO-TECH-DATA-presentation-template.pptx" id="{99C0F7E4-CCEA-4C8C-A6C8-A1A2BC34D1BC}" vid="{F6C02250-43C6-44E8-A563-5546583ADF4D}"/>
    </a:ext>
  </a:extLst>
</a:theme>
</file>

<file path=ppt/theme/theme5.xml><?xml version="1.0" encoding="utf-8"?>
<a:theme xmlns:a="http://schemas.openxmlformats.org/drawingml/2006/main" name="COL: Jurisdiction Slid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L-NO-TECH-DATA-presentation-template.pptx" id="{99C0F7E4-CCEA-4C8C-A6C8-A1A2BC34D1BC}" vid="{E02A4A08-61C9-4923-B6A0-6E20925598B3}"/>
    </a:ext>
  </a:extLst>
</a:theme>
</file>

<file path=ppt/theme/theme6.xml><?xml version="1.0" encoding="utf-8"?>
<a:theme xmlns:a="http://schemas.openxmlformats.org/drawingml/2006/main" name="Office Them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IOLATION xmlns="1f014d26-b0c9-4719-9c4e-6e631f7a801d">FALSE</VIOLATION>
  </documentManagement>
</p:properties>
</file>

<file path=customXml/item2.xml><?xml version="1.0" encoding="utf-8"?>
<sisl xmlns:xsi="http://www.w3.org/2001/XMLSchema-instance" xmlns:xsd="http://www.w3.org/2001/XMLSchema" xmlns="http://www.boldonjames.com/2008/01/sie/internal/label" sislVersion="0" policy="cde53ac1-bf5f-4aae-9cf1-07509e23a4b0" origin="userSelected">
  <element uid="dececbd6-da3b-46fe-8f00-f9d9deea2ee1" value=""/>
  <element uid="bba94c65-ac3d-4f34-b2e1-8de11ef6f01c" value=""/>
  <element uid="a06da4da-a263-4136-b4fd-f28a17d30188" value=""/>
  <element uid="bc2b7c01-6db1-4e7d-88d1-fc61674f86fd" value=""/>
  <element uid="92e993a3-af32-4afb-aa19-3a49cdb82c7a" value=""/>
</sisl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WrappedLabelHistory xmlns:xsi="http://www.w3.org/2001/XMLSchema-instance" xmlns:xsd="http://www.w3.org/2001/XMLSchema" xmlns="http://www.boldonjames.com/2016/02/Classifier/internal/wrappedLabelHistory">
  <Value>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ZGU1M2FjMS1iZjVmLTRhYWUtOWNmMS0wNzUwOWUyM2E0YjAiIG9yaWdpbj0iZGVmYXVsdFZhbHVlIj48ZWxlbWVudCB1aWQ9ImJiYTk0YzY1LWFjM2QtNGYzNC1iMmUxLThkZTExZWY2ZjAxYyIgdmFsdWU9IiIgeG1sbnM9Imh0dHA6Ly93d3cuYm9sZG9uamFtZXMuY29tLzIwMDgvMDEvc2llL2ludGVybmFsL2xhYmVsIiAvPjwvc2lzbD48VXNlck5hbWU+VVNcbnJwMDI0MTU4MjwvVXNlck5hbWU+PERhdGVUaW1lPjIvMTIvMjAyMCAyOjQ5OjE3IFBNPC9EYXRlVGltZT48TGFiZWxTdHJpbmc+T3JpZ2luIEp1cmlzZGljdGlvbjogVVMg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jU5OGNmYzI4LTVkZmQtNGYwNi04YzAxLWM3NTg4ZmQzOTRmMCIgdmFsdWU9IiIgeG1sbnM9Imh0dHA6Ly93d3cuYm9sZG9uamFtZXMuY29tLzIwMDgvMDEvc2llL2ludGVybmFsL2xhYmVsIiAvPjxlbGVtZW50IHVpZD0iYWFmYzlhOTUtZWU1ZC00ODdjLTljNGUtNjdhNTM4MGYyOTkxIiB2YWx1ZT0iIiB4bWxucz0iaHR0cDovL3d3dy5ib2xkb25qYW1lcy5jb20vMjAwOC8wMS9zaWUvaW50ZXJuYWwvbGFiZWwiIC8+PGVsZW1lbnQgdWlkPSJkNzU5Y2Q3YS1iNTdjLTQyZTQtOWE0OS05YjgyYTIzMzc1Nzk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+VVNcbnJwMDI0MTU4MjwvVXNlck5hbWU+PERhdGVUaW1lPjIvMTIvMjAyMCAzOjAzOjA5IFBNPC9EYXRlVGltZT48TGFiZWxTdHJpbmc+T3JpZ2luIEp1cmlzZGljdGlvbjogVVMgIHwgUmF5dGhlb24gQ29tcGV0aXRpb24gU2Vuc2l0aXZlIHwgUGVyIEN1cnJlbnQgUmF5dGhlb24gUG9saWN5IChSUC1PR0MtMDM1KSB8IE5vbi1FeHBvcnQgQ29udHJvbGxlZCBUZWNobmljYWwgSW5mb3JtYXRpb24gKEVYSU0gRGV0ZXJtaW5lZCBPbmx5KS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2FlMTFhNmItMjFiMS00OWQ4LTk5ZDgtZWQzMDY4NTEzODRhIiB2YWx1ZT0iIiB4bWxucz0iaHR0cDovL3d3dy5ib2xkb25qYW1lcy5jb20vMjAwOC8wMS9zaWUvaW50ZXJuYWwvbGFiZWwiIC8+PGVsZW1lbnQgdWlkPSJjMjA2ZDVmYS1hZWUxLTRmNjQtODlkOS1mODFlNGQ3YjNhY2MiIHZhbHVlPSIiIHhtbG5zPSJodHRwOi8vd3d3LmJvbGRvbmphbWVzLmNvbS8yMDA4LzAxL3NpZS9pbnRlcm5hbC9sYWJlbCIgLz48L3Npc2w+PFVzZXJOYW1lPlVTXG5ycDAyNDE1ODI8L1VzZXJOYW1lPjxEYXRlVGltZT4yLzEyLzIwMjAgMzoyODo1NyBQTTwvRGF0ZVRpbWU+PExhYmVsU3RyaW5nPk9yaWdpbiBKdXJpc2RpY3Rpb246IFVTICB8IFJheXRoZW9uIFByb3ByaWV0YXJ5IHwgUGVyIEN1cnJlbnQgUmF5dGhlb24gUG9saWN5IChSUC1PR0MtMDM1KSB8IFVTLUlUQVIgQ29udHJvbGxlZC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wMTJlYjIyYy03NmNhLTRlNGYtOGFiOS1mYWJiMDU0YWUx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yLzE0LzIwMjAgNDo0Mjo0NCBQTTwvRGF0ZVRpbWU+PExhYmVsU3RyaW5nPk9yaWdpbiBKdXJpc2RpY3Rpb246IFVTICB8IFJheXRoZW9uIE1vc3QgUHJpdmF0ZSB8IFBlciBDdXJyZW50IFJheXRoZW9uIFBvbGljeSAoUlAtT0dDLTAzN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ZmI5OTEzMDgtYTNkZS00MGE4LTk2N2ItMDkyMjMzNDI0MWJhIiB2YWx1ZT0iIiB4bWxucz0iaHR0cDovL3d3dy5ib2xkb25qYW1lcy5jb20vMjAwOC8wMS9zaWUvaW50ZXJuYWwvbGFiZWwiIC8+PGVsZW1lbnQgdWlkPSJjMjA2ZDVmYS1hZWUxLTRmNjQtODlkOS1mODFlNGQ3YjNhY2MiIHZhbHVlPSIiIHhtbG5zPSJodHRwOi8vd3d3LmJvbGRvbmphbWVzLmNvbS8yMDA4LzAxL3NpZS9pbnRlcm5hbC9sYWJlbCIgLz48L3Npc2w+PFVzZXJOYW1lPlVTXG5ycDAyNDE1ODI8L1VzZXJOYW1lPjxEYXRlVGltZT4yLzE0LzIwMjAgNjoyOTozNCBQTTwvRGF0ZVRpbWU+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YWNmOWVjYzMtMGY0NS00MjM0LWE5MGQtZTQzNjhmYWNkOTgx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i8xNy8yMDIwIDg6Mjg6MzE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jk5N2E3MTZlLWMwM2YtNDNiMS1hNWIwLWQ2Y2QwNGU5YmE0MCIgdmFsdWU9IiIgeG1sbnM9Imh0dHA6Ly93d3cuYm9sZG9uamFtZXMuY29tLzIwMDgvMDEvc2llL2ludGVybmFsL2xhYmVsIiAvPjxlbGVtZW50IHVpZD0iYWFmYzlhOTUtZWU1ZC00ODdjLTljNGUtNjdhNTM4MGYyOTkxIiB2YWx1ZT0iIiB4bWxucz0iaHR0cDovL3d3dy5ib2xkb25qYW1lcy5jb20vMjAwOC8wMS9zaWUvaW50ZXJuYWwvbGFiZWwiIC8+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wvc2lzbD48VXNlck5hbWU+VVNcbnJwMDI0MTU4MjwvVXNlck5hbWU+PERhdGVUaW1lPjIvMTgvMjAyMCA0OjU4OjI4IFBNPC9EYXRlVGltZT48TGFiZWxTdHJpbmc+T3JpZ2luIEp1cmlzZGljdGlvbjogVVMgIHwgUmF5dGhlb24gUHJvcHJpZXRhcn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MDEyZWIyMmMtNzZjYS00ZTRmLThhYjktZmFiYjA1NGFlMTQw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i8xOC8yMDIwIDU6MDA6MTYgUE08L0RhdGVUaW1lPjxMYWJlbFN0cmluZz5PcmlnaW4gSnVyaXNkaWN0aW9uOiBVUyAgfCBSYXl0aGVvbiBNb3N0IFByaXZhdGUgfCBQZXIgQ3VycmVudCBSYXl0aGVvbiBQb2xpY3kgKFJQLU9HQy0wMzUpIHwgVVMtRXhwb3J0IENvbnRyb2xsZWQgSnVyaXNkaWN0aW9uIFVuZGV0ZXJtaW5lZC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JhY2Y5ZWNjMy0wZjQ1LTQyMzQtYTkwZC1lNDM2OGZhY2Q5ODE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zLzcvMjAyMCA4OjIzOjM2IFBNPC9EYXRlVGltZT48TGFiZWxTdHJpbmc+T3JpZ2luIEp1cmlzZGljdGlvbjogVVMgIHwgSW50ZXJuYWwgVXNlIE9ubH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OTk3YTcxNmUtYzAzZi00M2IxLWE1YjAtZDZjZDA0ZTliYTQw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y83LzIwMjAgODoyNDo0OSBQTTwvRGF0ZVRpbWU+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ZmI5OTEzMDgtYTNkZS00MGE4LTk2N2ItMDkyMjMzNDI0MWJhIiB2YWx1ZT0iIiB4bWxucz0iaHR0cDovL3d3dy5ib2xkb25qYW1lcy5jb20vMjAwOC8wMS9zaWUvaW50ZXJuYWwvbGFiZWwiIC8+PGVsZW1lbnQgdWlkPSJjMjA2ZDVmYS1hZWUxLTRmNjQtODlkOS1mODFlNGQ3YjNhY2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YWFmYzlhOTUtZWU1ZC00ODdjLTljNGUtNjdhNTM4MGYyOTkxIiB2YWx1ZT0iIiB4bWxucz0iaHR0cDovL3d3dy5ib2xkb25qYW1lcy5jb20vMjAwOC8wMS9zaWUvaW50ZXJuYWwvbGFiZWwiIC8+PC9zaXNsPjxVc2VyTmFtZT5VU1wxMTAzMDg1PC9Vc2VyTmFtZT48RGF0ZVRpbWU+My8xMi8yMDIwIDY6MjM6MjM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+PGl0ZW0+PHNpc2wgc2lzbFZlcnNpb249IjAiIHBvbGljeT0iY2RlNTNhYzEtYmY1Zi00YWFlLTljZjEtMDc1MDllMjNhNGIwIiBvcmlnaW49InVzZXJTZWxlY3RlZCIgLz48VXNlck5hbWU+VVNcMTEwMzA4NTwvVXNlck5hbWU+PERhdGVUaW1lPjMvMTMvMjAyMCAxMDowMjo0NCBQTTwvRGF0ZVRpbWU+PExhYmVsU3RyaW5nPlRoaXMgYXJ0aWZhY3QgaGFzIG5vIGNsYXNzaWZpY2F0aW9uLjwvTGFiZWxTdHJpbmc+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DExMDMwODU8L1VzZXJOYW1lPjxEYXRlVGltZT4zLzEzLzIwMjAgMTA6MDU6NDQgUE08L0RhdGVUaW1lPjxMYWJlbFN0cmluZz5PcmlnaW4gSnVyaXNkaWN0aW9uOiBVUyAgfCBUaGlyZCBQYXJ0eSBQcm9wcmlldGFyeSAtIE5lZWQgdG8gS25vdyB8IFBlciBDdXJyZW50IFJheXRoZW9uIFBvbGljeSAoUlAtT0dDLTAzN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xlbGVtZW50IHVpZD0iYWNmOWVjYzMtMGY0NS00MjM0LWE5MGQtZTQzNjhmYWNkOTgxIiB2YWx1ZT0iIiB4bWxucz0iaHR0cDovL3d3dy5ib2xkb25qYW1lcy5jb20vMjAwOC8wMS9zaWUvaW50ZXJuYWwvbGFiZWwiIC8+PGVsZW1lbnQgdWlkPSJhYWZjOWE5NS1lZTVkLTQ4N2MtOWM0ZS02N2E1MzgwZjI5OTEiIHZhbHVlPSIiIHhtbG5zPSJodHRwOi8vd3d3LmJvbGRvbmphbWVzLmNvbS8yMDA4LzAxL3NpZS9pbnRlcm5hbC9sYWJlbCIgLz48L3Npc2w+PFVzZXJOYW1lPlVTXG5ycDAyNDE1ODI8L1VzZXJOYW1lPjxEYXRlVGltZT4zLzIzLzIwMjAgNzo1ODoxOSBQTTwvRGF0ZVRpbWU+PExhYmVsU3RyaW5nPk9yaWdpbiBKdXJpc2RpY3Rpb246IFVTICB8IEludGVybmFsIFVzZSBPbmx5IHwgUGVyIEN1cnJlbnQgUmF5dGhlb24gUG9saWN5IChSUC1PR0MtMDM1KSB8IE90aGVyIEluZm9ybWF0aW9uIChOb3QgUmVxdWlyaW5nIGFuIEV4cG9ydCBDb250cm9sIE1hcmtpbmcpIHwgTm8gbWFya2luZyBhcHBsaWVkIGJ5IHRoZSB0b29s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+PGVsZW1lbnQgdWlkPSIxNWZlZmExYy1hZjY3LTRlYmYtYTcxZC1mMDE2MjExNjg5NjIiIHZhbHVlPSIiIHhtbG5zPSJodHRwOi8vd3d3LmJvbGRvbmphbWVzLmNvbS8yMDA4LzAxL3NpZS9pbnRlcm5hbC9sYWJlbCIgLz48ZWxlbWVudCB1aWQ9ImFhZmM5YTk1LWVlNWQtNDg3Yy05YzRlLTY3YTUzODBmMjk5MSIgdmFsdWU9IiIgeG1sbnM9Imh0dHA6Ly93d3cuYm9sZG9uamFtZXMuY29tLzIwMDgvMDEvc2llL2ludGVybmFsL2xhYmVsIiAvPjwvc2lzbD48VXNlck5hbWU+VVNcbnJwMDI0MTU4MjwvVXNlck5hbWU+PERhdGVUaW1lPjMvMjMvMjAyMCA4OjQ4OjA4IFBNPC9EYXRlVGltZT48TGFiZWxTdHJpbmc+T3JpZ2luIEp1cmlzZGljdGlvbjogVVMgIHwgVGhpcmQgUGFydHkgUHJvcHJpZXRhcnkgLSBOZWVkIHRvIEtub3c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iAvPjxVc2VyTmFtZT5VU1wxMTAzMDg1PC9Vc2VyTmFtZT48RGF0ZVRpbWU+My8yMy8yMDIwIDEwOjE1OjQwIFBNPC9EYXRlVGltZT48TGFiZWxTdHJpbmc+VGhpcyBhcnRpZmFjdCBoYXMgbm8gY2xhc3NpZmljYXRpb24uPC9MYWJlbFN0cmluZz48L2l0ZW0+PGl0ZW0+PHNpc2wgc2lzbFZlcnNpb249IjAiIHBvbGljeT0iY2RlNTNhYzEtYmY1Zi00YWFlLTljZjEtMDc1MDllMjNhNGIwIiBvcmlnaW49ImRlZmF1bHRWYWx1ZSI+PGVsZW1lbnQgdWlkPSJiYmE5NGM2NS1hYzNkLTRmMzQtYjJlMS04ZGUxMWVmNmYwMWMiIHZhbHVlPSIiIHhtbG5zPSJodHRwOi8vd3d3LmJvbGRvbmphbWVzLmNvbS8yMDA4LzAxL3NpZS9pbnRlcm5hbC9sYWJlbCIgLz48L3Npc2w+PFVzZXJOYW1lPlVTXG5ycDAyNDE1ODI8L1VzZXJOYW1lPjxEYXRlVGltZT40LzIwLzIwMjAgNDoyOToyMyBQTTwvRGF0ZVRpbWU+PExhYmVsU3RyaW5nPk9yaWdpbiBKdXJpc2RpY3Rpb246IFVTIDwvTGFiZWxTdHJpbmc+PC9pdGVtPjxpdGVtPjxzaXNsIHNpc2xWZXJzaW9uPSIwIiBwb2xpY3k9ImNkZTUzYWMxLWJmNWYtNGFhZS05Y2YxLTA3NTA5ZTIzYTRiMCIgb3JpZ2luPSJ1c2VyU2VsZWN0ZWQiIC8+PFVzZXJOYW1lPlVTXDExMDMwODU8L1VzZXJOYW1lPjxEYXRlVGltZT40LzIwLzIwMjAgNjozMjo1MCBQTTwvRGF0ZVRpbWU+PExhYmVsU3RyaW5nPlRoaXMgYXJ0aWZhY3QgaGFzIG5vIGNsYXNzaWZpY2F0aW9uLjwvTGFiZWxTdHJpbmc+PC9pdGVtPjxpdGVtPjxzaXNsIHNpc2xWZXJzaW9uPSIwIiBwb2xpY3k9ImNkZTUzYWMxLWJmNWYtNGFhZS05Y2YxLTA3NTA5ZTIzYTRiMCIgb3JpZ2luPSJkZWZhdWx0VmFsdWUiPjxlbGVtZW50IHVpZD0iYmJhOTRjNjUtYWMzZC00ZjM0LWIyZTEtOGRlMTFlZjZmMDFjIiB2YWx1ZT0iIiB4bWxucz0iaHR0cDovL3d3dy5ib2xkb25qYW1lcy5jb20vMjAwOC8wMS9zaWUvaW50ZXJuYWwvbGFiZWwiIC8+PC9zaXNsPjxVc2VyTmFtZT5VU1x2YWExMDUwPC9Vc2VyTmFtZT48RGF0ZVRpbWU+MTIvMTYvMjAyMCA1OjIyOjIzIFBNPC9EYXRlVGltZT48TGFiZWxTdHJpbmc+T3JpZ2luIEp1cmlzZGljdGlvbjogVVMg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mRlY2VjYmQ2LWRhM2ItNDZmZS04ZjAwLWY5ZDlkZWVhMmVlMSIgdmFsdWU9IiIgeG1sbnM9Imh0dHA6Ly93d3cuYm9sZG9uamFtZXMuY29tLzIwMDgvMDEvc2llL2ludGVybmFsL2xhYmVsIiAvPjxlbGVtZW50IHVpZD0iYmJiZjdiZjQtNGY0Zi00MTg5LTljNWUtNjUwMTVkZThhNmFkIiB2YWx1ZT0iIiB4bWxucz0iaHR0cDovL3d3dy5ib2xkb25qYW1lcy5jb20vMjAwOC8wMS9zaWUvaW50ZXJuYWwvbGFiZWwiIC8+PGVsZW1lbnQgdWlkPSJmYjk5MTMwOC1hM2RlLTQwYTgtOTY3Yi0wOTIyMzM0MjQxYmE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+VVNcdmFhMTA1MDwvVXNlck5hbWU+PERhdGVUaW1lPjEyLzE3LzIwMjAgMTo1NDo0NiBQTTwvRGF0ZVRpbWU+PExhYmVsU3RyaW5nPk9yaWdpbiBKdXJpc2RpY3Rpb246IFVTICB8IFVucmVzdHJpY3RlZCBDb250ZW50IHwgTm8gbWFya2luZyBhcHBsaWVkIGJ5IHRoaXMgdG9vbC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iAvPjxVc2VyTmFtZT5VU1wxMTYxMTEzPC9Vc2VyTmFtZT48RGF0ZVRpbWU+Ni8xLzIwMjMgMjo0OTo1NCBQTTwvRGF0ZVRpbWU+PExhYmVsU3RyaW5nPlRoaXMgYXJ0aWZhY3QgaGFzIG5vIGNsYXNzaWZpY2F0aW9uLjwvTGFiZWxTdHJpbmc+PC9pdGVtPjxpdGVtPjxzaXNsIHNpc2xWZXJzaW9uPSIwIiBwb2xpY3k9ImNkZTUzYWMxLWJmNWYtNGFhZS05Y2YxLTA3NTA5ZTIzYTRiMCIgb3JpZ2luPSJ1c2VyU2VsZWN0ZWQiPjxlbGVtZW50IHVpZD0iZGVjZWNiZDYtZGEzYi00NmZlLThmMDAtZjlkOWRlZWEyZWUxIiB2YWx1ZT0iIiB4bWxucz0iaHR0cDovL3d3dy5ib2xkb25qYW1lcy5jb20vMjAwOC8wMS9zaWUvaW50ZXJuYWwvbGFiZWwiIC8+PGVsZW1lbnQgdWlkPSJhNGE5ZjM4Mi04Y2VjLTQwYmItYTljMy1jMTg3NmRlZDlkZWU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ZDc1OWNkN2EtYjU3Yy00MmU0LTlhNDktOWI4MmEyMzM3NTc5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DExNjExMTM8L1VzZXJOYW1lPjxEYXRlVGltZT42LzYvMjAyMyA3OjEwOjE1IFBNPC9EYXRlVGltZT48TGFiZWxTdHJpbmc+T3JpZ2luIEp1cmlzZGljdGlvbjogVVMgfCBVbnJlc3RyaWN0ZWQgQ29udGVudCB8IFJheXRoZW9uIFRlY2hub2xvZ2llcyAoQ29ycG9yYXRlIE9ubHkpIHwgTm9uLUV4cG9ydCBDb250cm9sbGVkIFRlY2huaWNhbCBJbmZvcm1hdGlvbiAoRVhJTSBEZXRlcm1pbmVkIE9ubHkpIHwgTm8gbWFya2luZyBhcHBsaWVkIGJ5IHRoZSB0b29s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+PGVsZW1lbnQgdWlkPSJhY2Y5ZWNjMy0wZjQ1LTQyMzQtYTkwZC1lNDM2OGZhY2Q5ODEiIHZhbHVlPSIiIHhtbG5zPSJodHRwOi8vd3d3LmJvbGRvbmphbWVzLmNvbS8yMDA4LzAxL3NpZS9pbnRlcm5hbC9sYWJlbCIgLz48ZWxlbWVudCB1aWQ9ImE0YTlmMzgyLThjZWMtNDBiYi1hOWMzLWMxODc2ZGVkOWRlZSIgdmFsdWU9IiIgeG1sbnM9Imh0dHA6Ly93d3cuYm9sZG9uamFtZXMuY29tLzIwMDgvMDEvc2llL2ludGVybmFsL2xhYmVsIiAvPjwvc2lzbD48VXNlck5hbWU+VVNcMTE2MTExMzwvVXNlck5hbWU+PERhdGVUaW1lPjYvNi8yMDIzIDc6MTA6MzIgUE08L0RhdGVUaW1lPjxMYWJlbFN0cmluZz5PcmlnaW4gSnVyaXNkaWN0aW9uOiBVUyB8IENvbXBhbnkgVXNlL0ludGVybmFsIFVzZSBPbmx5IHwgUmF5dGhlb24gVGVjaG5vbG9naWVzIChDb3Jwb3JhdGUgT25se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IC8+PFVzZXJOYW1lPlVTXDExNjExMTM8L1VzZXJOYW1lPjxEYXRlVGltZT42LzYvMjAyMyA4OjE3OjQwIFBNPC9EYXRlVGltZT48TGFiZWxTdHJpbmc+VGhpcyBhcnRpZmFjdCBoYXMgbm8gY2xhc3NpZmljYXRpb24uPC9MYWJlbFN0cmluZz48L2l0ZW0+PGl0ZW0+PHNpc2wgc2lzbFZlcnNpb249IjAiIHBvbGljeT0iY2RlNTNhYzEtYmY1Zi00YWFlLTljZjEtMDc1MDllMjNhNGIwIiBvcmlnaW49ImRlZmF1bHRWYWx1ZSI+PGVsZW1lbnQgdWlkPSJiYmE5NGM2NS1hYzNkLTRmMzQtYjJlMS04ZGUxMWVmNmYwMWMiIHZhbHVlPSIiIHhtbG5zPSJodHRwOi8vd3d3LmJvbGRvbmphbWVzLmNvbS8yMDA4LzAxL3NpZS9pbnRlcm5hbC9sYWJlbCIgLz48L3Npc2w+PFVzZXJOYW1lPlVTXDExNjExMTM8L1VzZXJOYW1lPjxEYXRlVGltZT42LzIwLzIwMjMgNDoxNTozOCBQTTwvRGF0ZVRpbWU+PExhYmVsU3RyaW5nPk9yaWdpbiBKdXJpc2RpY3Rpb246IFVT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NjlkMDBhY2QtODljNC00NGUwLTg0YWUtZTU4ZGExN2Y0ODVjIiB2YWx1ZT0iIiB4bWxucz0iaHR0cDovL3d3dy5ib2xkb25qYW1lcy5jb20vMjAwOC8wMS9zaWUvaW50ZXJuYWwvbGFiZWwiIC8+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xlbGVtZW50IHVpZD0iYTI3ZjY3MWYtMDQ1YS00OWQyLWIyMzgtNGYzY2EyZTBiMGJiIiB2YWx1ZT0iIiB4bWxucz0iaHR0cDovL3d3dy5ib2xkb25qYW1lcy5jb20vMjAwOC8wMS9zaWUvaW50ZXJuYWwvbGFiZWwiIC8+PC9zaXNsPjxVc2VyTmFtZT5BRFhVXEUyMTE2MTExMzwvVXNlck5hbWU+PERhdGVUaW1lPjgvMTQvMjAyMyAxOjQ5OjI0IFBNPC9EYXRlVGltZT48TGFiZWxTdHJpbmc+RXhwb3J0IENvbnRyb2wgQ291bnRyeTogVVMgIHwgQ29tcGFueSBVc2UgfCBSYXl0aGVvbiBUZWNobm9sb2dpZXMgfCBPdGhlciBJbmZvcm1hdGlvbiAoTm90IFJlcXVpcmluZyBhbiBFeHBvcnQgQ29udHJvbCBNYXJraW5nKSB8IE5vIHZpc3VhbCBtYXJraW5nIGFwcGxpZWQgYnkgdGhlIHRvb2wgfCBObyBUZWNoIERhdGE8L0xhYmVsU3RyaW5nPjwvaXRlbT48aXRlbT48c2lzbCBzaXNsVmVyc2lvbj0iMCIgcG9saWN5PSJjZGU1M2FjMS1iZjVmLTRhYWUtOWNmMS0wNzUwOWUyM2E0YjAiIG9yaWdpbj0idXNlclNlbGVjdGVkIj48ZWxlbWVudCB1aWQ9ImFjZjllY2MzLTBmNDUtNDIzNC1hOTBkLWU0MzY4ZmFjZDk4MSIgdmFsdWU9IiIgeG1sbnM9Imh0dHA6Ly93d3cuYm9sZG9uamFtZXMuY29tLzIwMDgvMDEvc2llL2ludGVybmFsL2xhYmVsIiAvPjxlbGVtZW50IHVpZD0iNjlkMDBhY2QtODljNC00NGUwLTg0YWUtZTU4ZGExN2Y0ODVjIiB2YWx1ZT0iIiB4bWxucz0iaHR0cDovL3d3dy5ib2xkb25qYW1lcy5jb20vMjAwOC8wMS9zaWUvaW50ZXJuYWwvbGFiZWwiIC8+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+PC9zaXNsPjxVc2VyTmFtZT5BRFhVXEUyMTE2MTExMzwvVXNlck5hbWU+PERhdGVUaW1lPjgvMTcvMjAyMyAyOjI0OjQzIFBNPC9EYXRlVGltZT48TGFiZWxTdHJpbmc+RXhwb3J0IENvbnRyb2wgQ291bnRyeTogVVMgIHwgQ29tcGFueSBVc2UvSW50ZXJuYWwgVXNlIE9ubHkgfCBSVFggQ29ycG9yYXRpb24gKENvcnBvcmF0ZSkgfCBPdGhlciBJbmZvcm1hdGlvbiAoTm90IFJlcXVpcmluZyBhbiBFeHBvcnQgQ29udHJvbCBNYXJraW5nKSB8IE5vIHZpc3VhbCBtYXJraW5nIGFwcGxpZWQgYnkgdGhlIHRvb2w8L0xhYmVsU3RyaW5nPjwvaXRlbT48aXRlbT48c2lzbCBzaXNsVmVyc2lvbj0iMCIgcG9saWN5PSJjZGU1M2FjMS1iZjVmLTRhYWUtOWNmMS0wNzUwOWUyM2E0YjAiIG9yaWdpbj0idXNlclNlbGVjdGVkIj48ZWxlbWVudCB1aWQ9ImRlY2VjYmQ2LWRhM2ItNDZmZS04ZjAwLWY5ZDlkZWVhMmVlMSIgdmFsdWU9IiIgeG1sbnM9Imh0dHA6Ly93d3cuYm9sZG9uamFtZXMuY29tLzIwMDgvMDEvc2llL2ludGVybmFsL2xhYmVsIiAvPjxlbGVtZW50IHVpZD0iYmJhOTRjNjUtYWMzZC00ZjM0LWIyZTEtOGRlMTFlZjZmMDFjIiB2YWx1ZT0iIiB4bWxucz0iaHR0cDovL3d3dy5ib2xkb25qYW1lcy5jb20vMjAwOC8wMS9zaWUvaW50ZXJuYWwvbGFiZWwiIC8+PGVsZW1lbnQgdWlkPSJhMDZkYTRkYS1hMjYzLTQxMzYtYjRmZC1mMjhhMTdkMzAxODg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+PC9zaXNsPjxVc2VyTmFtZT5BRFhVXEUyMTE2MTExMzwvVXNlck5hbWU+PERhdGVUaW1lPjEyLzI4LzIwMjQgMjo0MzowOSBQTTwvRGF0ZVRpbWU+PExhYmVsU3RyaW5nPkV4cG9ydCBDb250cm9sIENvdW50cnk6IFVTICB8IFVucmVzdHJpY3RlZCBDb250ZW50IHwgVXNlIFByZWV4aXN0aW5nIE1hcmtpbmcgKG5vdCBhcHBsaWVkIGJ5IHRoaXMgdG9vbCkgfCBPdGhlciBJbmZvcm1hdGlvbiAoTm90IFJlcXVpcmluZyBhbiBFeHBvcnQgQ29udHJvbCBNYXJraW5nKSB8IE5vIHZpc3VhbCBtYXJraW5nIGFwcGxpZWQgYnkgdGhlIHRvb2w8L0xhYmVsU3RyaW5nPjwvaXRlbT48L2xhYmVsSGlzdG9yeT4=</Value>
</WrappedLabelHistory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49450BF7B11147AA8C116BA14E6848" ma:contentTypeVersion="3" ma:contentTypeDescription="Create a new document." ma:contentTypeScope="" ma:versionID="2f526d967ba0e1a83719eb98f719f691">
  <xsd:schema xmlns:xsd="http://www.w3.org/2001/XMLSchema" xmlns:xs="http://www.w3.org/2001/XMLSchema" xmlns:p="http://schemas.microsoft.com/office/2006/metadata/properties" xmlns:ns2="1f014d26-b0c9-4719-9c4e-6e631f7a801d" targetNamespace="http://schemas.microsoft.com/office/2006/metadata/properties" ma:root="true" ma:fieldsID="ea5744fd6d356973943a54517c57327b" ns2:_="">
    <xsd:import namespace="1f014d26-b0c9-4719-9c4e-6e631f7a80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VIOL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14d26-b0c9-4719-9c4e-6e631f7a80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VIOLATION" ma:index="10" nillable="true" ma:displayName="VIOLATION" ma:internalName="VIOLAT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E5F23F-329C-4DBF-9D60-45A5F548688A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1f014d26-b0c9-4719-9c4e-6e631f7a801d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E9627E5-DB7D-46FA-B88C-40AF094D1F62}">
  <ds:schemaRefs>
    <ds:schemaRef ds:uri="http://www.w3.org/2001/XMLSchema"/>
    <ds:schemaRef ds:uri="http://www.boldonjames.com/2008/01/sie/internal/label"/>
  </ds:schemaRefs>
</ds:datastoreItem>
</file>

<file path=customXml/itemProps3.xml><?xml version="1.0" encoding="utf-8"?>
<ds:datastoreItem xmlns:ds="http://schemas.openxmlformats.org/officeDocument/2006/customXml" ds:itemID="{4F85E5AD-1BCC-408B-B532-7B415316D2C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EADD14C4-DDAD-426C-A577-B7F88C24A91D}">
  <ds:schemaRefs>
    <ds:schemaRef ds:uri="http://www.boldonjames.com/2016/02/Classifier/internal/wrappedLabelHistory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F768F78F-F636-41F0-9B4F-B3053C21A3B1}">
  <ds:schemaRefs>
    <ds:schemaRef ds:uri="1f014d26-b0c9-4719-9c4e-6e631f7a80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459</TotalTime>
  <Words>1464</Words>
  <Application>Microsoft Office PowerPoint</Application>
  <PresentationFormat>Widescreen</PresentationFormat>
  <Paragraphs>180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Courier New</vt:lpstr>
      <vt:lpstr>Times New Roman</vt:lpstr>
      <vt:lpstr>COL: Jurisdiction Slide</vt:lpstr>
      <vt:lpstr>COL Masters: Covers</vt:lpstr>
      <vt:lpstr>COL Masters: Content</vt:lpstr>
      <vt:lpstr>COL Masters: Section Breakers</vt:lpstr>
      <vt:lpstr>COL: Jurisdiction Slide</vt:lpstr>
      <vt:lpstr>PowerPoint Presentation</vt:lpstr>
      <vt:lpstr>Solving 3x3Rubik’s Cube</vt:lpstr>
      <vt:lpstr>We approach solving the Rubik's Cube as a multi-stage transformation from a scrambled state to a solved state.  The process is broken down into logical steps based on established solving strategies:</vt:lpstr>
      <vt:lpstr>1. Problem-Solving Approach</vt:lpstr>
      <vt:lpstr>Modeling the Cube and Moves</vt:lpstr>
      <vt:lpstr>✅ 2. Use of Data Structures</vt:lpstr>
      <vt:lpstr>✅ Efficient Structures  Cube State Tracking: Dict of faces for direct access Move History: Use a list to store sequence of moves Avoid Revisit (if search-based): Use hashable stringified cube state + set </vt:lpstr>
      <vt:lpstr>✅ 3. State Prediction Logic</vt:lpstr>
      <vt:lpstr>Working Algorithm</vt:lpstr>
      <vt:lpstr>STEP 5: Execution  if __name__ == "__main__":     cube = RubiksCube()      scramble_moves = ["R", "R", "R"]     scramble(cube, scramble_moves)      print("Scrambled cube:")     cube.print_cube()      solve_white_cross(cube)      print("Post white cross (placeholder):")     cube.print_cube() </vt:lpstr>
      <vt:lpstr>🔁 Abstraction of Moves  Each move (U, U', R, R', etc.) is represented as a function or object. They can be: 1.Chained: ["U", "R", "U'"] 2.Reversed: reversed_move("U") -&gt; "U'"</vt:lpstr>
      <vt:lpstr>📏 Move Optimality  Beginner’s Method: ~100–150 moves Optimal Solver (Kociemba): ~20 moves (God’s Number ≤ 20) </vt:lpstr>
    </vt:vector>
  </TitlesOfParts>
  <Company>Collins Aerospace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Murthy, Ramakrishnan (IND)</dc:creator>
  <cp:keywords>https:/corpid.rtx.com</cp:keywords>
  <dc:description>Mar. 2025</dc:description>
  <cp:lastModifiedBy>dilip</cp:lastModifiedBy>
  <cp:revision>30</cp:revision>
  <dcterms:created xsi:type="dcterms:W3CDTF">2025-07-11T03:39:18Z</dcterms:created>
  <dcterms:modified xsi:type="dcterms:W3CDTF">2025-08-02T17:18:26Z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d11ccf89-9507-4f51-9f46-aad6600adf14</vt:lpwstr>
  </property>
  <property fmtid="{D5CDD505-2E9C-101B-9397-08002B2CF9AE}" pid="3" name="bjSaver">
    <vt:lpwstr>A2AB0OuaTTiL2YVHw3qxYann2Jd9uCN6</vt:lpwstr>
  </property>
  <property fmtid="{D5CDD505-2E9C-101B-9397-08002B2CF9AE}" pid="4" name="bjClsUserRVM">
    <vt:lpwstr>[]</vt:lpwstr>
  </property>
  <property fmtid="{D5CDD505-2E9C-101B-9397-08002B2CF9AE}" pid="5" name="MSIP_Label_4447dd6a-a4a1-440b-a6a3-9124ef1ee017_Enabled">
    <vt:lpwstr>true</vt:lpwstr>
  </property>
  <property fmtid="{D5CDD505-2E9C-101B-9397-08002B2CF9AE}" pid="6" name="MSIP_Label_4447dd6a-a4a1-440b-a6a3-9124ef1ee017_SetDate">
    <vt:lpwstr>2022-12-09T16:32:43Z</vt:lpwstr>
  </property>
  <property fmtid="{D5CDD505-2E9C-101B-9397-08002B2CF9AE}" pid="7" name="MSIP_Label_4447dd6a-a4a1-440b-a6a3-9124ef1ee017_Method">
    <vt:lpwstr>Privileged</vt:lpwstr>
  </property>
  <property fmtid="{D5CDD505-2E9C-101B-9397-08002B2CF9AE}" pid="8" name="MSIP_Label_4447dd6a-a4a1-440b-a6a3-9124ef1ee017_Name">
    <vt:lpwstr>NO TECH DATA</vt:lpwstr>
  </property>
  <property fmtid="{D5CDD505-2E9C-101B-9397-08002B2CF9AE}" pid="9" name="MSIP_Label_4447dd6a-a4a1-440b-a6a3-9124ef1ee017_SiteId">
    <vt:lpwstr>7a18110d-ef9b-4274-acef-e62ab0fe28ed</vt:lpwstr>
  </property>
  <property fmtid="{D5CDD505-2E9C-101B-9397-08002B2CF9AE}" pid="10" name="MSIP_Label_4447dd6a-a4a1-440b-a6a3-9124ef1ee017_ActionId">
    <vt:lpwstr>9a5bf9cd-cf11-4485-9abb-891aabd778e5</vt:lpwstr>
  </property>
  <property fmtid="{D5CDD505-2E9C-101B-9397-08002B2CF9AE}" pid="11" name="MSIP_Label_4447dd6a-a4a1-440b-a6a3-9124ef1ee017_ContentBits">
    <vt:lpwstr>0</vt:lpwstr>
  </property>
  <property fmtid="{D5CDD505-2E9C-101B-9397-08002B2CF9AE}" pid="12" name="ContentTypeId">
    <vt:lpwstr>0x010100FA49450BF7B11147AA8C116BA14E6848</vt:lpwstr>
  </property>
  <property fmtid="{D5CDD505-2E9C-101B-9397-08002B2CF9AE}" pid="13" name="bjLabelHistoryID">
    <vt:lpwstr>{EADD14C4-DDAD-426C-A577-B7F88C24A91D}</vt:lpwstr>
  </property>
  <property fmtid="{D5CDD505-2E9C-101B-9397-08002B2CF9AE}" pid="14" name="bjDocumentSecurityLabel">
    <vt:lpwstr>Export Control Country: US  | Unrestricted Content | Use Preexisting Marking (not applied by this tool) | Other Information (Not Requiring an Export Control Marking) | No visual marking applied by the tool</vt:lpwstr>
  </property>
  <property fmtid="{D5CDD505-2E9C-101B-9397-08002B2CF9AE}" pid="15" name="bjDocumentLabelXML">
    <vt:lpwstr>&lt;?xml version="1.0" encoding="us-ascii"?&gt;&lt;sisl xmlns:xsd="http://www.w3.org/2001/XMLSchema" xmlns:xsi="http://www.w3.org/2001/XMLSchema-instance" sislVersion="0" policy="cde53ac1-bf5f-4aae-9cf1-07509e23a4b0" origin="userSelected" xmlns="http://www.boldonj</vt:lpwstr>
  </property>
  <property fmtid="{D5CDD505-2E9C-101B-9397-08002B2CF9AE}" pid="16" name="bjDocumentLabelXML-0">
    <vt:lpwstr>ames.com/2008/01/sie/internal/label" /&gt;</vt:lpwstr>
  </property>
  <property fmtid="{D5CDD505-2E9C-101B-9397-08002B2CF9AE}" pid="17" name="bjLabelRefreshRequired">
    <vt:lpwstr>FileClassifier</vt:lpwstr>
  </property>
</Properties>
</file>